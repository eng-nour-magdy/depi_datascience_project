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2" r:id="rId20"/>
    <p:sldId id="278" r:id="rId21"/>
    <p:sldId id="277" r:id="rId22"/>
    <p:sldId id="279" r:id="rId23"/>
    <p:sldId id="280" r:id="rId24"/>
    <p:sldId id="281" r:id="rId25"/>
    <p:sldId id="274" r:id="rId26"/>
    <p:sldId id="275" r:id="rId27"/>
    <p:sldId id="276" r:id="rId28"/>
  </p:sldIdLst>
  <p:sldSz cx="9144000" cy="5143500" type="screen16x9"/>
  <p:notesSz cx="5143500" cy="9144000"/>
  <p:embeddedFontLst>
    <p:embeddedFont>
      <p:font typeface="Open Sans" panose="020B060603050402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4" roundtripDataSignature="AMtx7mjxNvgCMyZY/PcZnEHXvQ9FrVGP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00E8BB5-BF0A-46B4-AE6C-58DD8306B396}">
  <a:tblStyle styleId="{500E8BB5-BF0A-46B4-AE6C-58DD8306B39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F1E8"/>
          </a:solidFill>
        </a:fill>
      </a:tcStyle>
    </a:wholeTbl>
    <a:band1H>
      <a:tcTxStyle/>
      <a:tcStyle>
        <a:tcBdr/>
        <a:fill>
          <a:solidFill>
            <a:srgbClr val="D4E2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E2CE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BF1E8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BF1E8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" name="Google Shape;10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8" name="Google Shape;218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e449b8be4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6" name="Google Shape;326;g3e449b8be43_0_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g3e449b8be43_0_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F8EA9BF3-48FE-07BA-90FE-AF4C8CB7B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94E2DE9C-215F-0677-0EC7-8BB0F5F27A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8C36C14A-85BB-0807-9BE4-A19EFF3CD1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43259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FED9CDC4-4184-E4AA-882B-0DC02C499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798C210E-AE00-0AF4-DB32-092E3CD2CE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45E34EC4-F43E-4E0B-0254-12923F74C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5601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866440E8-1F41-12EE-1E42-0299AE0EA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7C96F541-FBEA-3453-627A-814076FC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FDCB1831-D403-7D1E-8382-4EF604B7F1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35468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63997B2E-3210-B8CD-2BDA-724666C7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232E822C-46E4-FAD0-97C7-09E037FD4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95B8792D-F877-E77F-CD0A-3172D46D1E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20567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E248355D-B534-C149-7E8B-6ABAE7DF0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9584E566-505D-F502-1846-1DA547165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648A7965-4398-DD04-77E7-3FBB45BE8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7705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709FECE2-52F0-0F20-A355-55A76F6D9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0761F076-3AF3-8195-3969-ACE82D1821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B1DA47D8-4318-9B39-F67E-6B956A1A44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7167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e449b8be43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3e449b8be43_0_27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449b8be43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e449b8be43_0_32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449b8be43_16_0)">
  <p:cSld name="Generated (g3e449b8be43_16_0)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2A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 Type Classification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365760" y="246888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4C69D"/>
              </a:buClr>
              <a:buSzPts val="2000"/>
              <a:buFont typeface="Calibri"/>
              <a:buNone/>
            </a:pPr>
            <a:r>
              <a:rPr lang="en-US" sz="2000">
                <a:solidFill>
                  <a:srgbClr val="74C69D"/>
                </a:solidFill>
                <a:latin typeface="Calibri"/>
                <a:ea typeface="Calibri"/>
                <a:cs typeface="Calibri"/>
                <a:sym typeface="Calibri"/>
              </a:rPr>
              <a:t>Using Sentinel-2 Satellite Images &amp; Deep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36576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6576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EuroSAT Dataset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51460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251460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CNN / Transfer Learning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66344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66344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Land Classes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81228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681228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PyTorch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300"/>
              <a:buFont typeface="Calibri"/>
              <a:buNone/>
            </a:pPr>
            <a:r>
              <a:rPr lang="en-US" sz="130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DEPI — AI &amp; Data Science Track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12223" y="960120"/>
            <a:ext cx="80924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12223" y="960120"/>
            <a:ext cx="8088723" cy="64008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436273"/>
            <a:ext cx="3776133" cy="948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project involves classifying Land use land cover (LULC) using satellite imagery captured by the Sentinel-2 optical sensor.</a:t>
            </a:r>
            <a:endParaRPr/>
          </a:p>
          <a:p>
            <a:pPr marL="285750" marR="0" lvl="0" indent="-2857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Sentinel-2 is a European satellite that images the Earth every five days with a spatial resolution of up to 10 meters.</a:t>
            </a:r>
            <a:endParaRPr/>
          </a:p>
          <a:p>
            <a:pPr marL="285750" marR="0" lvl="0" indent="-2857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project focuses on classifying land cover into types or categories using deep learning algorithms</a:t>
            </a:r>
            <a:endParaRPr/>
          </a:p>
          <a:p>
            <a:pPr marL="2857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00025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" name="Google Shape;34;p2" descr="A screenshot of a computer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02" y="905860"/>
            <a:ext cx="4853048" cy="4009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457200" y="960120"/>
            <a:ext cx="402336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457200" y="960120"/>
            <a:ext cx="4023360" cy="640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548640" y="105156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Challenge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594360" y="1554480"/>
            <a:ext cx="37490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Satellite data is massive and complex, manually labeling land use is slow, expensive, and unscalable.</a:t>
            </a:r>
            <a:b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Accurate land classification is critical for: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Urban &amp; infrastructure planning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Agriculture &amp; crop monitoring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Environmental conservation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Resource management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4663440" y="960120"/>
            <a:ext cx="402336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4663440" y="960120"/>
            <a:ext cx="4023360" cy="64008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4754880" y="105156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Our Objective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4800600" y="1600200"/>
            <a:ext cx="374904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Build a Deep Neural Network that automatically classifies land types from Sentinel-2 multispectral satellite images, across 10 categories, with high accuracy.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Dataset: EuroSAT (Sentinel-2)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32004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32004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27,000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32004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Labeled Images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246888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246888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Meters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246888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Spatial Resolution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61772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461772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64×64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61772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Pixels / Image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676656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676656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 Bands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76656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Multi-Spectral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457200" y="23774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10 Land Classes: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457200" y="2788920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566928" y="2788920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1. Annual Crop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4663440" y="2788920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4773168" y="2788920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2. Forest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457200" y="3191256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566928" y="3191256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3. Herbaceous Veg.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4663440" y="3191256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4773168" y="3191256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4. Highway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457200" y="3593592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566928" y="3593592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5. Industrial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663440" y="3593592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773168" y="3593592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6. Pasture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457200" y="3995928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66928" y="3995928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7. Permanent Crop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663440" y="3995928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4773168" y="3995928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8. Residential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4398264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566928" y="4398264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9. River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4663440" y="4398264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4773168" y="4398264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10. Sea / Lake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4846320" y="237744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→ Used RGB bands (2,3,4) for generalizability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4" descr="A blue and white logo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6560" y="297560"/>
            <a:ext cx="1920240" cy="4478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Project Pipeline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84708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74066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4066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27432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274320" y="1691640"/>
            <a:ext cx="1572768" cy="5486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4747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Data Collection &amp; Processing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6576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Download EuroSAT 27K images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Convert .tif to JPEG RGB bands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80/10/10 train/val/test split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358444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47802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247802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201168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2011680" y="1691640"/>
            <a:ext cx="157276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208483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EDA &amp; Preprocessing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210312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Class distribution analysis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Spectral band visualization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Augmentation: flip, rotate, crop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532180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21538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421538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74904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3749040" y="1691640"/>
            <a:ext cx="1572768" cy="5486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82219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Model Development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384048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ResNet50 Transfer Learning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RGB model + MS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Custom FC head + Dropout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705916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595274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95274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548640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5486400" y="1691640"/>
            <a:ext cx="157276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555955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Evaluation &amp; Tuning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557784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Accuracy, F1-score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Train/val loss curves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769010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769010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722376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7223760" y="1691640"/>
            <a:ext cx="1572768" cy="5486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729691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731520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Streamlit Cloud deployment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Satellite image upload &amp; classify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Sliding-window segmentation map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Data Processing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428625" y="2454994"/>
            <a:ext cx="18573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NORMALIZATION</a:t>
            </a:r>
            <a:endParaRPr sz="140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428625" y="2735387"/>
            <a:ext cx="1857375" cy="357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Scaling pixel values to [0, 1] for RGB and Sentinel-standard for TIF.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2571750" y="2454994"/>
            <a:ext cx="18573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AUGMENTATION</a:t>
            </a:r>
            <a:endParaRPr sz="140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2571750" y="2735387"/>
            <a:ext cx="1857375" cy="541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Open Sans"/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Random flips, rotations, and brightness shifts to boost robustness.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714875" y="2454994"/>
            <a:ext cx="18573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r>
              <a:rPr lang="en-US" sz="1400" b="1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SPLIT</a:t>
            </a:r>
            <a:endParaRPr sz="140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4714875" y="2735387"/>
            <a:ext cx="1857375" cy="35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Open Sans"/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70% Train, 20% Val, 10% Test using stratified sampling.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6858000" y="2454994"/>
            <a:ext cx="185737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OPTIMIZATION</a:t>
            </a:r>
            <a:endParaRPr sz="105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6858000" y="2735387"/>
            <a:ext cx="1857375" cy="35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Open Sans"/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PyTorch pipelines with caching and prefetching.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911616" y="3802803"/>
            <a:ext cx="3269493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800"/>
              <a:buFont typeface="Open Sans"/>
              <a:buNone/>
            </a:pPr>
            <a:r>
              <a:rPr lang="en-US" sz="800" b="1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Reproducibility:</a:t>
            </a:r>
            <a:r>
              <a:rPr lang="en-US" sz="850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85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Fixed random seeds used for consistent dataset shuffling and splitting.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5054991" y="3816764"/>
            <a:ext cx="3636169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800"/>
              <a:buFont typeface="Open Sans"/>
              <a:buNone/>
            </a:pPr>
            <a:r>
              <a:rPr lang="en-US" sz="800" b="1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Efficiency:</a:t>
            </a:r>
            <a:r>
              <a:rPr lang="en-US" sz="850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85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Parallelized loading and RAM caching to minimize training bottlenecks.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6" descr="A green circle with arrows in it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73079" y="1674155"/>
            <a:ext cx="715890" cy="7158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6" descr="A green circle with arrows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55045" y="1676414"/>
            <a:ext cx="690784" cy="690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6" descr="A green and yellow circular logo  AI-generated content may be incorrect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440843" y="1650235"/>
            <a:ext cx="648497" cy="648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6" descr="A green gears with a black background  AI-generated content may be incorrect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7221" y="1630209"/>
            <a:ext cx="810762" cy="810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6" descr="A green circle with a white check mark  AI-generated content may be incorrect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36380" y="3831884"/>
            <a:ext cx="228603" cy="228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6" descr="A green circle with a white check mark  AI-generated content may be incorrect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93005" y="3835810"/>
            <a:ext cx="228603" cy="2286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 Distribution Charts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7" descr="A graph of a bar chart  AI-generated content may be incorrect."/>
          <p:cNvPicPr preferRelativeResize="0"/>
          <p:nvPr/>
        </p:nvPicPr>
        <p:blipFill rotWithShape="1">
          <a:blip r:embed="rId3">
            <a:alphaModFix/>
          </a:blip>
          <a:srcRect t="5001"/>
          <a:stretch/>
        </p:blipFill>
        <p:spPr>
          <a:xfrm>
            <a:off x="27921" y="1382068"/>
            <a:ext cx="9053258" cy="3501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Sample Images From Each Category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8" descr="A collage of different images of land  AI-generated content may be incorrect."/>
          <p:cNvPicPr preferRelativeResize="0"/>
          <p:nvPr/>
        </p:nvPicPr>
        <p:blipFill rotWithShape="1">
          <a:blip r:embed="rId3">
            <a:alphaModFix/>
          </a:blip>
          <a:srcRect t="3654"/>
          <a:stretch/>
        </p:blipFill>
        <p:spPr>
          <a:xfrm>
            <a:off x="75316" y="1360640"/>
            <a:ext cx="8990030" cy="34766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Displays RGB composite, NDVI, NDWI, and NDBI for one sample per class</a:t>
            </a:r>
            <a:endParaRPr/>
          </a:p>
        </p:txBody>
      </p:sp>
      <p:sp>
        <p:nvSpPr>
          <p:cNvPr id="188" name="Google Shape;188;p9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9" descr="A collage of different colored squares  AI-generated content may be incorrect."/>
          <p:cNvPicPr preferRelativeResize="0"/>
          <p:nvPr/>
        </p:nvPicPr>
        <p:blipFill rotWithShape="1">
          <a:blip r:embed="rId3">
            <a:alphaModFix/>
          </a:blip>
          <a:srcRect b="49498"/>
          <a:stretch/>
        </p:blipFill>
        <p:spPr>
          <a:xfrm>
            <a:off x="836552" y="1195280"/>
            <a:ext cx="3310375" cy="38379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9" descr="A collage of different colored squares  AI-generated content may be incorrect."/>
          <p:cNvPicPr preferRelativeResize="0"/>
          <p:nvPr/>
        </p:nvPicPr>
        <p:blipFill rotWithShape="1">
          <a:blip r:embed="rId3">
            <a:alphaModFix/>
          </a:blip>
          <a:srcRect t="50502" b="268"/>
          <a:stretch/>
        </p:blipFill>
        <p:spPr>
          <a:xfrm>
            <a:off x="4480560" y="1291884"/>
            <a:ext cx="3310375" cy="37413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Mean Spectral Band Values per Class</a:t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p10" descr="A green and white chart  AI-generated content may be incorrect."/>
          <p:cNvPicPr preferRelativeResize="0"/>
          <p:nvPr/>
        </p:nvPicPr>
        <p:blipFill rotWithShape="1">
          <a:blip r:embed="rId3">
            <a:alphaModFix/>
          </a:blip>
          <a:srcRect t="4710"/>
          <a:stretch/>
        </p:blipFill>
        <p:spPr>
          <a:xfrm>
            <a:off x="972606" y="1243584"/>
            <a:ext cx="7061628" cy="38382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1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841248"/>
            <a:ext cx="168954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Top 5 Bands Per Class</a:t>
            </a:r>
            <a:endParaRPr sz="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5" name="Google Shape;215;p11"/>
          <p:cNvGraphicFramePr/>
          <p:nvPr/>
        </p:nvGraphicFramePr>
        <p:xfrm>
          <a:off x="1301360" y="1227769"/>
          <a:ext cx="6726275" cy="3630530"/>
        </p:xfrm>
        <a:graphic>
          <a:graphicData uri="http://schemas.openxmlformats.org/drawingml/2006/table">
            <a:tbl>
              <a:tblPr>
                <a:noFill/>
                <a:tableStyleId>{500E8BB5-BF0A-46B4-AE6C-58DD8306B396}</a:tableStyleId>
              </a:tblPr>
              <a:tblGrid>
                <a:gridCol w="157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9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33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Class Name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1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4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5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Annual Crop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Forest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HerbaceousVegetation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Highway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Industrial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Pasture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PermanentCrop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Residential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River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Sea/Lake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B01 Coastal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B02 Blue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B03 Green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B04 Red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B05 RE-1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Model Development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457200" y="749808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Architecture: ResNet50  •  Framework: PyTorch  •  Optimizer: Adam (lr=0.001)  •  Loss: CrossEntropyLoss  •  Epochs: 10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457200" y="1078992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365760" y="1170432"/>
            <a:ext cx="39319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901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365760" y="1170432"/>
            <a:ext cx="3931920" cy="40233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502920" y="1170432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Model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2743200" y="1170432"/>
            <a:ext cx="14630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3-channel input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365760" y="1664208"/>
            <a:ext cx="393192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475488" y="1664208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Base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1737360" y="1664208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ResNet50 (pretrained — ImageNet)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365760" y="2157984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75488" y="2157984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Frozen Layers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1737360" y="2157984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All except FC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365760" y="2651760"/>
            <a:ext cx="393192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475488" y="265176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Custom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2"/>
          <p:cNvSpPr/>
          <p:nvPr/>
        </p:nvSpPr>
        <p:spPr>
          <a:xfrm>
            <a:off x="1737360" y="2651760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Linear(2048→512) → ReLU → Dropout(0.5) → Linear(512→N)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365760" y="3145536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475488" y="3145536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1737360" y="3145536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3-channel RGB images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365760" y="3639312"/>
            <a:ext cx="393192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75488" y="363931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Trained Params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1737360" y="3639312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FC head only (fast fine-tuning)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2"/>
          <p:cNvSpPr/>
          <p:nvPr/>
        </p:nvSpPr>
        <p:spPr>
          <a:xfrm>
            <a:off x="4572000" y="1170432"/>
            <a:ext cx="42062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901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0" y="1170432"/>
            <a:ext cx="4206240" cy="402336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700016" y="1170432"/>
            <a:ext cx="29260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Model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7132320" y="1170432"/>
            <a:ext cx="1554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13-channel input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4572000" y="1664208"/>
            <a:ext cx="420624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4681728" y="166420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Base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6080760" y="1664208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ResNet50 (random weights — no pretrain)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4572000" y="2157984"/>
            <a:ext cx="4206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4681728" y="2157984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Modified Conv1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6080760" y="2157984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Conv2d(13→64, k=7, stride=2) — custom input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4572000" y="2651760"/>
            <a:ext cx="420624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4681728" y="26517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Frozen Layers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2"/>
          <p:cNvSpPr/>
          <p:nvPr/>
        </p:nvSpPr>
        <p:spPr>
          <a:xfrm>
            <a:off x="6080760" y="2651760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All except conv1 + FC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/>
          <p:nvPr/>
        </p:nvSpPr>
        <p:spPr>
          <a:xfrm>
            <a:off x="4572000" y="3145536"/>
            <a:ext cx="4206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2"/>
          <p:cNvSpPr/>
          <p:nvPr/>
        </p:nvSpPr>
        <p:spPr>
          <a:xfrm>
            <a:off x="4681728" y="3145536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Custom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2"/>
          <p:cNvSpPr/>
          <p:nvPr/>
        </p:nvSpPr>
        <p:spPr>
          <a:xfrm>
            <a:off x="6080760" y="3145536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Linear(2048→512) → ReLU → Dropout(0.5) → Linear(512→N)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2"/>
          <p:cNvSpPr/>
          <p:nvPr/>
        </p:nvSpPr>
        <p:spPr>
          <a:xfrm>
            <a:off x="4572000" y="3639312"/>
            <a:ext cx="420624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2"/>
          <p:cNvSpPr/>
          <p:nvPr/>
        </p:nvSpPr>
        <p:spPr>
          <a:xfrm>
            <a:off x="4681728" y="363931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Trained Params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2"/>
          <p:cNvSpPr/>
          <p:nvPr/>
        </p:nvSpPr>
        <p:spPr>
          <a:xfrm>
            <a:off x="6080760" y="3639312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conv1 + FC head (13-band specialization)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2"/>
          <p:cNvSpPr/>
          <p:nvPr/>
        </p:nvSpPr>
        <p:spPr>
          <a:xfrm>
            <a:off x="365760" y="4892040"/>
            <a:ext cx="8412480" cy="16459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/>
          <p:cNvSpPr/>
          <p:nvPr/>
        </p:nvSpPr>
        <p:spPr>
          <a:xfrm>
            <a:off x="457200" y="4892040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Training loop: forward pass → CrossEntropyLoss → backprop → Adam step  |  Tracked per epoch: train/val loss &amp; accuracy  |  Saved to Google Drive (.pth)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Training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3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Model — Accuracy &amp; Loss Curves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13" descr="A graph of different colored lines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761" y="1243585"/>
            <a:ext cx="8412480" cy="3466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4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Training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4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4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MS Model — Accuracy &amp; Loss Curves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14" descr="A graph of different colored lines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760" y="1275419"/>
            <a:ext cx="8412480" cy="34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Training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5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5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&amp; MS — Confusion Matrix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15" descr="A screenshot of a computer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029" y="1191854"/>
            <a:ext cx="4183813" cy="37870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15" descr="A screenshot of a computer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59125" y="1191854"/>
            <a:ext cx="4219115" cy="38190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Model Results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365760" y="960120"/>
            <a:ext cx="26974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6"/>
          <p:cNvSpPr/>
          <p:nvPr/>
        </p:nvSpPr>
        <p:spPr>
          <a:xfrm>
            <a:off x="457200" y="105156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Simple CNN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457200" y="164592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3800"/>
              <a:buFont typeface="Calibri"/>
              <a:buNone/>
            </a:pPr>
            <a:r>
              <a:rPr lang="en-US" sz="380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~84%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457200" y="2468880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502920" y="2880360"/>
            <a:ext cx="242316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Baseline architecture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3 conv blocks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Overfit after ~10 epochs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3246120" y="960120"/>
            <a:ext cx="26974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6"/>
          <p:cNvSpPr/>
          <p:nvPr/>
        </p:nvSpPr>
        <p:spPr>
          <a:xfrm>
            <a:off x="3337560" y="105156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CNN + Batch Norm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6"/>
          <p:cNvSpPr/>
          <p:nvPr/>
        </p:nvSpPr>
        <p:spPr>
          <a:xfrm>
            <a:off x="3337560" y="164592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3800"/>
              <a:buFont typeface="Calibri"/>
              <a:buNone/>
            </a:pPr>
            <a:r>
              <a:rPr lang="en-US" sz="380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~56%*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3337560" y="2468880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6"/>
          <p:cNvSpPr/>
          <p:nvPr/>
        </p:nvSpPr>
        <p:spPr>
          <a:xfrm>
            <a:off x="3383280" y="2880360"/>
            <a:ext cx="242316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Faster convergence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Still improving at 10 epochs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13h vs 34h training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6126480" y="960120"/>
            <a:ext cx="2697480" cy="356616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177800" dist="508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6126480" y="960120"/>
            <a:ext cx="2697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4C69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74C69D"/>
                </a:solidFill>
                <a:latin typeface="Calibri"/>
                <a:ea typeface="Calibri"/>
                <a:cs typeface="Calibri"/>
                <a:sym typeface="Calibri"/>
              </a:rPr>
              <a:t>★  BEST MODEL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6"/>
          <p:cNvSpPr/>
          <p:nvPr/>
        </p:nvSpPr>
        <p:spPr>
          <a:xfrm>
            <a:off x="6217920" y="1353312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Transfer Learning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(VGG16)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/>
          <p:nvPr/>
        </p:nvSpPr>
        <p:spPr>
          <a:xfrm>
            <a:off x="6217920" y="1947672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4C69D"/>
              </a:buClr>
              <a:buSzPts val="3800"/>
              <a:buFont typeface="Calibri"/>
              <a:buNone/>
            </a:pPr>
            <a:r>
              <a:rPr lang="en-US" sz="3800" b="1">
                <a:solidFill>
                  <a:srgbClr val="74C69D"/>
                </a:solidFill>
                <a:latin typeface="Calibri"/>
                <a:ea typeface="Calibri"/>
                <a:cs typeface="Calibri"/>
                <a:sym typeface="Calibri"/>
              </a:rPr>
              <a:t>~95%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6217920" y="2770632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6263640" y="3182112"/>
            <a:ext cx="242316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Pre-trained on ImageNet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Fine-tuned on EuroSAT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Best generalization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000"/>
              <a:buFont typeface="Calibri"/>
              <a:buNone/>
            </a:pPr>
            <a:r>
              <a:rPr lang="en-US" sz="100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* Batch Norm model still improving at epoch 10 — expected to exceed with more training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449b8be43_0_24"/>
          <p:cNvSpPr/>
          <p:nvPr/>
        </p:nvSpPr>
        <p:spPr>
          <a:xfrm>
            <a:off x="457200" y="228600"/>
            <a:ext cx="8229600" cy="59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Engineering the Pipeline</a:t>
            </a:r>
            <a:endParaRPr sz="3200" b="1" i="0">
              <a:solidFill>
                <a:srgbClr val="2D6A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g3e449b8be43_0_24"/>
          <p:cNvSpPr/>
          <p:nvPr/>
        </p:nvSpPr>
        <p:spPr>
          <a:xfrm>
            <a:off x="457200" y="749808"/>
            <a:ext cx="8321100" cy="273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3e449b8be43_0_24"/>
          <p:cNvSpPr/>
          <p:nvPr/>
        </p:nvSpPr>
        <p:spPr>
          <a:xfrm>
            <a:off x="365760" y="841248"/>
            <a:ext cx="8412600" cy="274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e449b8be43_0_24"/>
          <p:cNvSpPr/>
          <p:nvPr/>
        </p:nvSpPr>
        <p:spPr>
          <a:xfrm>
            <a:off x="502920" y="841248"/>
            <a:ext cx="8229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Development Environment &amp; Project Structure</a:t>
            </a:r>
            <a:endParaRPr sz="1200" b="1" i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3" name="Google Shape;333;g3e449b8be43_0_24"/>
          <p:cNvGrpSpPr/>
          <p:nvPr/>
        </p:nvGrpSpPr>
        <p:grpSpPr>
          <a:xfrm>
            <a:off x="365760" y="1333500"/>
            <a:ext cx="8412480" cy="3238500"/>
            <a:chOff x="365760" y="1333500"/>
            <a:chExt cx="8412480" cy="3238500"/>
          </a:xfrm>
        </p:grpSpPr>
        <p:sp>
          <p:nvSpPr>
            <p:cNvPr id="334" name="Google Shape;334;g3e449b8be43_0_24"/>
            <p:cNvSpPr/>
            <p:nvPr/>
          </p:nvSpPr>
          <p:spPr>
            <a:xfrm>
              <a:off x="365760" y="1333500"/>
              <a:ext cx="3048000" cy="3238500"/>
            </a:xfrm>
            <a:prstGeom prst="roundRect">
              <a:avLst>
                <a:gd name="adj" fmla="val 3125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35" name="Google Shape;335;g3e449b8be43_0_24"/>
            <p:cNvGrpSpPr/>
            <p:nvPr/>
          </p:nvGrpSpPr>
          <p:grpSpPr>
            <a:xfrm>
              <a:off x="556260" y="1714500"/>
              <a:ext cx="1809750" cy="1971600"/>
              <a:chOff x="556260" y="1714500"/>
              <a:chExt cx="1809750" cy="1971600"/>
            </a:xfrm>
          </p:grpSpPr>
          <p:pic>
            <p:nvPicPr>
              <p:cNvPr id="336" name="Google Shape;336;g3e449b8be43_0_24"/>
              <p:cNvPicPr preferRelativeResize="0"/>
              <p:nvPr/>
            </p:nvPicPr>
            <p:blipFill rotWithShape="1">
              <a:blip r:embed="rId3">
                <a:alphaModFix/>
              </a:blip>
              <a:srcRect t="60" b="70"/>
              <a:stretch/>
            </p:blipFill>
            <p:spPr>
              <a:xfrm>
                <a:off x="1413510" y="1714500"/>
                <a:ext cx="952500" cy="895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37" name="Google Shape;337;g3e449b8be43_0_24"/>
              <p:cNvPicPr preferRelativeResize="0"/>
              <p:nvPr/>
            </p:nvPicPr>
            <p:blipFill rotWithShape="1">
              <a:blip r:embed="rId4">
                <a:alphaModFix/>
              </a:blip>
              <a:srcRect t="328" b="328"/>
              <a:stretch/>
            </p:blipFill>
            <p:spPr>
              <a:xfrm>
                <a:off x="1413510" y="2857500"/>
                <a:ext cx="952500" cy="828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8" name="Google Shape;338;g3e449b8be43_0_24"/>
              <p:cNvSpPr txBox="1"/>
              <p:nvPr/>
            </p:nvSpPr>
            <p:spPr>
              <a:xfrm>
                <a:off x="556260" y="1714500"/>
                <a:ext cx="762000" cy="89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2D6A4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Google Colab</a:t>
                </a:r>
                <a:endParaRPr sz="11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9" name="Google Shape;339;g3e449b8be43_0_24"/>
              <p:cNvSpPr txBox="1"/>
              <p:nvPr/>
            </p:nvSpPr>
            <p:spPr>
              <a:xfrm>
                <a:off x="556260" y="2857500"/>
                <a:ext cx="762000" cy="8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2D6A4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GitHub</a:t>
                </a:r>
                <a:endParaRPr sz="11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40" name="Google Shape;340;g3e449b8be43_0_24"/>
            <p:cNvSpPr/>
            <p:nvPr/>
          </p:nvSpPr>
          <p:spPr>
            <a:xfrm>
              <a:off x="3634740" y="1333500"/>
              <a:ext cx="5143500" cy="3238500"/>
            </a:xfrm>
            <a:prstGeom prst="roundRect">
              <a:avLst>
                <a:gd name="adj" fmla="val 2941"/>
              </a:avLst>
            </a:prstGeom>
            <a:solidFill>
              <a:srgbClr val="1B2D2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g3e449b8be43_0_24"/>
            <p:cNvSpPr txBox="1"/>
            <p:nvPr/>
          </p:nvSpPr>
          <p:spPr>
            <a:xfrm>
              <a:off x="3920490" y="1619250"/>
              <a:ext cx="4572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74C69D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DEPI_DataScience_Project/</a:t>
              </a:r>
              <a:endParaRPr sz="1100" b="1">
                <a:solidFill>
                  <a:srgbClr val="74C69D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config.py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Hyperparameters &amp; paths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data_loader.py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RGB &amp; MS handling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model.py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ResNet50 architecture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engine.py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Training logic &amp; AMP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train.py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Command Line execution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app.py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Streamlit Dashboard — classification &amp; segmentation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requirements.txt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Dependencies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└──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README.md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Project Documentation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/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/>
          <p:cNvSpPr/>
          <p:nvPr/>
        </p:nvSpPr>
        <p:spPr>
          <a:xfrm>
            <a:off x="457200" y="1333500"/>
            <a:ext cx="3952800" cy="32385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/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e449b8be43_0_99"/>
          <p:cNvSpPr/>
          <p:nvPr/>
        </p:nvSpPr>
        <p:spPr>
          <a:xfrm>
            <a:off x="4552950" y="1333500"/>
            <a:ext cx="4238700" cy="32385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g3e449b8be43_0_99"/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g3e449b8be43_0_99"/>
          <p:cNvSpPr txBox="1"/>
          <p:nvPr/>
        </p:nvSpPr>
        <p:spPr>
          <a:xfrm>
            <a:off x="600075" y="1476375"/>
            <a:ext cx="3667200" cy="285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8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Streamlit Web Application</a:t>
            </a:r>
            <a:endParaRPr sz="1480" b="1">
              <a:solidFill>
                <a:srgbClr val="2D6A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1125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Dashboard Deployment: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Deployed on Streamlit Cloud with a clean two-tab interface for instant access from any browser.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900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Real-Time Inference: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Instant LULC classification across 10 land-cover categories for .jpg (RGB) or .tif (13-band MS) Sentinel-2 patches, with Top-3 probability scores.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900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Segmentation Map: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Sliding-window analysis divides large images into 64x64 patches, classifies each independently, and renders a colour-coded land-cover map with area statistics.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900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Geospatial Insights: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Toggle between RGB Natural Color and False Color Composite (NIR-Red-Green) views to highlight vegetation health across the uploaded scene.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g3e449b8be43_0_99"/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/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22E3CE-7994-DA17-D224-4AA28E18B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62775"/>
            <a:ext cx="3984561" cy="22823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4E949361-43C2-8BC2-4D3A-D9FC008C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95A2C778-7834-D022-E92E-3E966D269F09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962559A9-56B5-A706-9370-191EA22CFBDF}"/>
              </a:ext>
            </a:extLst>
          </p:cNvPr>
          <p:cNvSpPr/>
          <p:nvPr/>
        </p:nvSpPr>
        <p:spPr>
          <a:xfrm>
            <a:off x="457200" y="1285800"/>
            <a:ext cx="8410500" cy="36753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7F309469-1F01-2E11-B578-BA870E3A55E6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0942E4C5-DF30-650A-BA76-E38AE93026C7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F7140EC7-797A-6A50-1553-1476B9CA54A6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F86A6AF1-A584-4B60-507B-CFE9203F1F8B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map of a city&#10;&#10;AI-generated content may be incorrect.">
            <a:extLst>
              <a:ext uri="{FF2B5EF4-FFF2-40B4-BE49-F238E27FC236}">
                <a16:creationId xmlns:a16="http://schemas.microsoft.com/office/drawing/2014/main" id="{A2539B0F-A5E7-D39D-C1F3-9E1B76FDD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1574" y="1401873"/>
            <a:ext cx="3709626" cy="34446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1F27B5-30E2-7EDC-EA19-B501D51B68CB}"/>
              </a:ext>
            </a:extLst>
          </p:cNvPr>
          <p:cNvSpPr txBox="1"/>
          <p:nvPr/>
        </p:nvSpPr>
        <p:spPr>
          <a:xfrm>
            <a:off x="896400" y="1555622"/>
            <a:ext cx="1623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Google Sans"/>
              </a:rPr>
              <a:t>Gezira Island, Cairo</a:t>
            </a:r>
            <a:endParaRPr lang="ar-EG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 descr="A green and black logo&#10;&#10;AI-generated content may be incorrect.">
            <a:extLst>
              <a:ext uri="{FF2B5EF4-FFF2-40B4-BE49-F238E27FC236}">
                <a16:creationId xmlns:a16="http://schemas.microsoft.com/office/drawing/2014/main" id="{6B85E616-0CD7-3B56-FC38-116BDB115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23" y="1523520"/>
            <a:ext cx="307777" cy="3077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A44A42-6BA4-8E16-F604-14A21F0721DC}"/>
              </a:ext>
            </a:extLst>
          </p:cNvPr>
          <p:cNvSpPr txBox="1"/>
          <p:nvPr/>
        </p:nvSpPr>
        <p:spPr>
          <a:xfrm>
            <a:off x="896400" y="2129497"/>
            <a:ext cx="361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Google Sans"/>
              </a:rPr>
              <a:t>https://browser.dataspace.copernicus.eu/</a:t>
            </a:r>
            <a:endParaRPr lang="ar-EG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1" name="Picture 10" descr="A logo of a planet earth&#10;&#10;AI-generated content may be incorrect.">
            <a:extLst>
              <a:ext uri="{FF2B5EF4-FFF2-40B4-BE49-F238E27FC236}">
                <a16:creationId xmlns:a16="http://schemas.microsoft.com/office/drawing/2014/main" id="{C714DA92-F95C-BE31-55EF-6095337EBC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460" y="2119134"/>
            <a:ext cx="342902" cy="34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053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E8AF3F81-CE19-0EA2-4476-232CBB69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CAB8F06E-FA44-23D3-795D-DECEFA8C7412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9A3FEBFA-D71E-EB14-0946-2F89AA8D1ED4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75A93BE3-9ED6-994F-EC2E-8BE63703EE15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052C2608-56AA-4C8B-1D5D-F0A4CAB2397A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F4221D02-9A0B-80B7-CEA9-3C1BB6C1B9CF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3911E3FF-333C-3F87-2837-8731D6DADC42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65AAE1FB-4E7E-AAE0-6079-21A80BE65A36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9EEE262-9F32-C81C-59A6-9861CCB6C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00" y="1285800"/>
            <a:ext cx="7596000" cy="34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790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02A1A6C2-8D2A-8FC0-5FBC-CC3300021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82D82F13-E14E-6298-A362-EFF3E941FAB9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C500CF0D-F3E1-6B5C-4F56-C8450C91AA57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168BE28B-DE1F-ABC3-2886-DBF28C854830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D0954011-93C9-55F7-F14C-7DA4CFDAD892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944456E1-0B1B-E2F9-B074-84760C45BD2C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819A64F4-64A2-9D12-085B-55EEEE89FF02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/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E1C08C-BB1F-0A64-CDF6-FB91444B8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00" y="1285800"/>
            <a:ext cx="7516799" cy="355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0081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F32FD1CC-EE34-44D4-FDFA-CDA8CDF8F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26B6B820-66BC-9A32-7EEB-01F9016156ED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1F3E6BC2-605C-03F2-A112-98D22CA2FC87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01380824-BCC3-12CF-77C0-A025E43F0CA8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FEEEE9F0-63E4-167C-9F91-6A2E1D03F43C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646368B9-7689-9B2C-3E47-DC03308F7D3D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498C0FF5-C75B-AC12-2CAD-17A287F4AD7C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91DC6A67-545D-A97C-B214-D1CD95911FFB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6DFE05-1F36-DA16-4887-EFBE8D829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50" y="1285800"/>
            <a:ext cx="7439700" cy="35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515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4CFE7BEE-8022-E76C-4AFF-35A1944A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9A1A1983-0175-7DFD-A9F4-857BB76C0829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B1C999FB-C01A-85D5-1680-31449F0F26BE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446026C4-9AB3-4842-E372-A0571C64C79B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502A2C37-A523-4052-028A-476BB3FD9BB8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CE231891-4F91-C713-30E0-09FC16F2ED4A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857902D2-9361-804D-9BE9-8AEBC816EE0B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78D72BEF-658B-CBE8-E906-50904B00A0DB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screenshot of a map&#10;&#10;AI-generated content may be incorrect.">
            <a:extLst>
              <a:ext uri="{FF2B5EF4-FFF2-40B4-BE49-F238E27FC236}">
                <a16:creationId xmlns:a16="http://schemas.microsoft.com/office/drawing/2014/main" id="{F7B5F183-8D9C-22B8-B634-B37B8BBB5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00" y="1285178"/>
            <a:ext cx="7560000" cy="340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681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089284EB-411E-E4F3-CBD1-314E7DCE9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14CF2C80-4441-B6F4-6F5D-F692D616B4D0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9729C897-065D-411F-8827-A51F001EDBB8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8C6F30D9-D610-3DCC-7E2C-126854A58D36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35838F3D-981C-7D78-E762-04ABE91FA949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1729D330-E4C5-5570-0FDA-570379AF0AEA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A7B8D5AD-E01B-E41D-4276-2A264B655D1A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04AF6565-1BC9-ADAC-040F-71F3850DA547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860FDF48-1BBD-39F3-13D1-A22D50534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94" y="1350410"/>
            <a:ext cx="7789074" cy="344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74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e449b8be43_0_273"/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Future Scope: Scaling the Geospatial Impact</a:t>
            </a:r>
            <a:endParaRPr sz="3200" b="1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g3e449b8be43_0_273"/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g3e449b8be43_0_273"/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3e449b8be43_0_273"/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Long-term Evolution &amp; Regional Integration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6" name="Google Shape;366;g3e449b8be43_0_273"/>
          <p:cNvGrpSpPr/>
          <p:nvPr/>
        </p:nvGrpSpPr>
        <p:grpSpPr>
          <a:xfrm>
            <a:off x="457200" y="1333500"/>
            <a:ext cx="8229750" cy="3238500"/>
            <a:chOff x="457200" y="1333500"/>
            <a:chExt cx="8229750" cy="3238500"/>
          </a:xfrm>
        </p:grpSpPr>
        <p:sp>
          <p:nvSpPr>
            <p:cNvPr id="367" name="Google Shape;367;g3e449b8be43_0_273"/>
            <p:cNvSpPr/>
            <p:nvPr/>
          </p:nvSpPr>
          <p:spPr>
            <a:xfrm>
              <a:off x="457200" y="1333500"/>
              <a:ext cx="2571900" cy="32385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g3e449b8be43_0_273"/>
            <p:cNvSpPr/>
            <p:nvPr/>
          </p:nvSpPr>
          <p:spPr>
            <a:xfrm>
              <a:off x="3286125" y="1333500"/>
              <a:ext cx="2571900" cy="32385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g3e449b8be43_0_273"/>
            <p:cNvSpPr/>
            <p:nvPr/>
          </p:nvSpPr>
          <p:spPr>
            <a:xfrm>
              <a:off x="6115050" y="1333500"/>
              <a:ext cx="2571900" cy="32385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70" name="Google Shape;370;g3e449b8be43_0_273"/>
            <p:cNvPicPr preferRelativeResize="0"/>
            <p:nvPr/>
          </p:nvPicPr>
          <p:blipFill rotWithShape="1">
            <a:blip r:embed="rId3">
              <a:alphaModFix/>
            </a:blip>
            <a:srcRect t="28127" b="28123"/>
            <a:stretch/>
          </p:blipFill>
          <p:spPr>
            <a:xfrm>
              <a:off x="600075" y="1476375"/>
              <a:ext cx="2286000" cy="14289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  <p:pic>
          <p:nvPicPr>
            <p:cNvPr id="371" name="Google Shape;371;g3e449b8be43_0_273"/>
            <p:cNvPicPr preferRelativeResize="0"/>
            <p:nvPr/>
          </p:nvPicPr>
          <p:blipFill rotWithShape="1">
            <a:blip r:embed="rId4">
              <a:alphaModFix/>
            </a:blip>
            <a:srcRect t="28127" b="28123"/>
            <a:stretch/>
          </p:blipFill>
          <p:spPr>
            <a:xfrm>
              <a:off x="3429000" y="1476375"/>
              <a:ext cx="2286000" cy="14289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  <p:pic>
          <p:nvPicPr>
            <p:cNvPr id="372" name="Google Shape;372;g3e449b8be43_0_273"/>
            <p:cNvPicPr preferRelativeResize="0"/>
            <p:nvPr/>
          </p:nvPicPr>
          <p:blipFill rotWithShape="1">
            <a:blip r:embed="rId5">
              <a:alphaModFix/>
            </a:blip>
            <a:srcRect l="6362" r="6362"/>
            <a:stretch/>
          </p:blipFill>
          <p:spPr>
            <a:xfrm>
              <a:off x="6257925" y="1476375"/>
              <a:ext cx="2286000" cy="14289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  <p:sp>
          <p:nvSpPr>
            <p:cNvPr id="373" name="Google Shape;373;g3e449b8be43_0_273"/>
            <p:cNvSpPr txBox="1"/>
            <p:nvPr/>
          </p:nvSpPr>
          <p:spPr>
            <a:xfrm>
              <a:off x="600075" y="3000375"/>
              <a:ext cx="2286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Climate &amp; Change</a:t>
              </a:r>
              <a:endParaRPr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Correlate LULC shifts with environmental variables for long-term predictive models and automated deforestation tracking.</a:t>
              </a:r>
              <a:endParaRPr sz="110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374;g3e449b8be43_0_273"/>
            <p:cNvSpPr txBox="1"/>
            <p:nvPr/>
          </p:nvSpPr>
          <p:spPr>
            <a:xfrm>
              <a:off x="3429000" y="3000375"/>
              <a:ext cx="2286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Live Integration</a:t>
              </a:r>
              <a:endParaRPr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Direct live connections with Sentinel-2 API and Google Earth Engine for on-demand regional analysis and cloud processing.</a:t>
              </a:r>
              <a:endParaRPr sz="110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g3e449b8be43_0_273"/>
            <p:cNvSpPr txBox="1"/>
            <p:nvPr/>
          </p:nvSpPr>
          <p:spPr>
            <a:xfrm>
              <a:off x="6257925" y="3000375"/>
              <a:ext cx="2286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Regional Fine-Tuning</a:t>
              </a:r>
              <a:endParaRPr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Adapting the ResNet50 backbone to Egyptian landscapes and Nile Delta topographies for agricultural monitoring and urban planning.</a:t>
              </a:r>
              <a:endParaRPr sz="110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e449b8be43_0_3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1" name="Google Shape;381;g3e449b8be43_0_3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1905000"/>
            <a:ext cx="3810000" cy="381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2" name="Google Shape;382;g3e449b8be43_0_322"/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80" b="1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Real-World Impact: Transforming Geospatial Data into Action</a:t>
            </a:r>
            <a:endParaRPr sz="2480" b="1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g3e449b8be43_0_322"/>
          <p:cNvSpPr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g3e449b8be43_0_322"/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3e449b8be43_0_322"/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g3e449b8be43_0_322"/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Deploying Advanced ML for National Development &amp; Sustainability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87" name="Google Shape;387;g3e449b8be43_0_322"/>
          <p:cNvGrpSpPr/>
          <p:nvPr/>
        </p:nvGrpSpPr>
        <p:grpSpPr>
          <a:xfrm>
            <a:off x="457200" y="1333500"/>
            <a:ext cx="8210475" cy="3428850"/>
            <a:chOff x="457200" y="1333500"/>
            <a:chExt cx="8210475" cy="3428850"/>
          </a:xfrm>
        </p:grpSpPr>
        <p:sp>
          <p:nvSpPr>
            <p:cNvPr id="388" name="Google Shape;388;g3e449b8be43_0_322"/>
            <p:cNvSpPr/>
            <p:nvPr/>
          </p:nvSpPr>
          <p:spPr>
            <a:xfrm>
              <a:off x="457200" y="133350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89" name="Google Shape;389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7200" y="133350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1" name="Google Shape;391;g3e449b8be43_0_322"/>
            <p:cNvSpPr txBox="1"/>
            <p:nvPr/>
          </p:nvSpPr>
          <p:spPr>
            <a:xfrm>
              <a:off x="1095375" y="147637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Combating Urban Sprawl</a:t>
              </a:r>
              <a:endParaRPr sz="1600" b="1" dirty="0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 dirty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Automatically detecting illegal construction and urban encroachment on valuable agricultural land in the Nile Delta.</a:t>
              </a:r>
              <a:endParaRPr sz="1150" b="0" dirty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392;g3e449b8be43_0_322"/>
            <p:cNvSpPr/>
            <p:nvPr/>
          </p:nvSpPr>
          <p:spPr>
            <a:xfrm>
              <a:off x="4714875" y="133350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93" name="Google Shape;393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714875" y="133350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5" name="Google Shape;395;g3e449b8be43_0_322"/>
            <p:cNvSpPr txBox="1"/>
            <p:nvPr/>
          </p:nvSpPr>
          <p:spPr>
            <a:xfrm>
              <a:off x="5353050" y="147637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Precision Agriculture</a:t>
              </a:r>
              <a:endParaRPr sz="16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Utilizing 13-band Multispectral and False Color Composites to monitor crop health and predict harvest yields.</a:t>
              </a:r>
              <a:endParaRPr sz="115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g3e449b8be43_0_322"/>
            <p:cNvSpPr/>
            <p:nvPr/>
          </p:nvSpPr>
          <p:spPr>
            <a:xfrm>
              <a:off x="457200" y="314325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97" name="Google Shape;397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7200" y="314325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9" name="Google Shape;399;g3e449b8be43_0_322"/>
            <p:cNvSpPr txBox="1"/>
            <p:nvPr/>
          </p:nvSpPr>
          <p:spPr>
            <a:xfrm>
              <a:off x="1095375" y="328612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Water Resource Management</a:t>
              </a:r>
              <a:endParaRPr sz="16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Continuously tracking water levels and pollution in the Nile River and northern coastal lakes.</a:t>
              </a:r>
              <a:endParaRPr sz="115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400;g3e449b8be43_0_322"/>
            <p:cNvSpPr/>
            <p:nvPr/>
          </p:nvSpPr>
          <p:spPr>
            <a:xfrm>
              <a:off x="4714875" y="314325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01" name="Google Shape;401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714875" y="314325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3" name="Google Shape;403;g3e449b8be43_0_322"/>
            <p:cNvSpPr txBox="1"/>
            <p:nvPr/>
          </p:nvSpPr>
          <p:spPr>
            <a:xfrm>
              <a:off x="5353050" y="328612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Smart City Planning</a:t>
              </a:r>
              <a:endParaRPr sz="1600" b="1" dirty="0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 dirty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Assisting government entities in mapping terrain for new urban developments and optimizing highway routing.</a:t>
              </a:r>
              <a:endParaRPr sz="1150" b="0" dirty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454B853-1469-9DB6-9C3F-19FF343548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0611" y="1438176"/>
            <a:ext cx="357589" cy="32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8A2B43-8B4D-D9A1-0E98-641A2557B3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2637" y="3286125"/>
            <a:ext cx="315563" cy="378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0DB611-D912-81BA-B997-8462BC90B8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443552"/>
            <a:ext cx="323891" cy="332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D5D3C7-322A-3FD9-BB8C-92BCD992415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050" y="3286125"/>
            <a:ext cx="285900" cy="27085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2A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8"/>
          <p:cNvSpPr/>
          <p:nvPr/>
        </p:nvSpPr>
        <p:spPr>
          <a:xfrm>
            <a:off x="2545854" y="1577318"/>
            <a:ext cx="4052292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8"/>
          <p:cNvSpPr/>
          <p:nvPr/>
        </p:nvSpPr>
        <p:spPr>
          <a:xfrm>
            <a:off x="2545854" y="2416708"/>
            <a:ext cx="4052292" cy="1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250"/>
              <a:buFont typeface="Open Sans"/>
              <a:buNone/>
            </a:pPr>
            <a:r>
              <a:rPr lang="en-US" sz="1250" b="1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For your time and attention</a:t>
            </a:r>
            <a:endParaRPr sz="125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8"/>
          <p:cNvSpPr/>
          <p:nvPr/>
        </p:nvSpPr>
        <p:spPr>
          <a:xfrm>
            <a:off x="2545854" y="2785441"/>
            <a:ext cx="4052292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050"/>
              <a:buFont typeface="Calibri"/>
              <a:buNone/>
            </a:pPr>
            <a:r>
              <a:rPr lang="en-US" sz="1050" b="1" dirty="0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PROJECT TEAM</a:t>
            </a:r>
            <a:endParaRPr sz="1050" b="1" dirty="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8"/>
          <p:cNvSpPr/>
          <p:nvPr/>
        </p:nvSpPr>
        <p:spPr>
          <a:xfrm>
            <a:off x="9039335" y="0"/>
            <a:ext cx="109728" cy="5143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3" name="Google Shape;413;p18" descr="A black cat in a green circle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0726" y="3712402"/>
            <a:ext cx="306419" cy="306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18" descr="A green and grey link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51253" y="3769431"/>
            <a:ext cx="192360" cy="19236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969FA4-B4CE-9226-7E7D-B53508BE957D}"/>
              </a:ext>
            </a:extLst>
          </p:cNvPr>
          <p:cNvSpPr txBox="1"/>
          <p:nvPr/>
        </p:nvSpPr>
        <p:spPr>
          <a:xfrm>
            <a:off x="5143613" y="3604001"/>
            <a:ext cx="31795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sz="1200" dirty="0">
                <a:solidFill>
                  <a:schemeClr val="bg1"/>
                </a:solidFill>
              </a:rPr>
              <a:t>https://depidatascienceproject-zfm6ugw4g6h74ak3svcwfc.streamlit.app/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F51D0-770A-3584-0A59-CF7D76C2BDC3}"/>
              </a:ext>
            </a:extLst>
          </p:cNvPr>
          <p:cNvSpPr txBox="1"/>
          <p:nvPr/>
        </p:nvSpPr>
        <p:spPr>
          <a:xfrm>
            <a:off x="1976345" y="3726065"/>
            <a:ext cx="2768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sz="1200" dirty="0">
                <a:solidFill>
                  <a:schemeClr val="bg1"/>
                </a:solidFill>
              </a:rPr>
              <a:t>https://github.com/nhahub/NHA-4-047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3720B-5ED1-B37F-40AA-0B1919391E8A}"/>
              </a:ext>
            </a:extLst>
          </p:cNvPr>
          <p:cNvSpPr txBox="1"/>
          <p:nvPr/>
        </p:nvSpPr>
        <p:spPr>
          <a:xfrm>
            <a:off x="2344254" y="2944930"/>
            <a:ext cx="14562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Nourhan Magdy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84E1F-9F77-EEC4-8CE2-92F36D8C0E1E}"/>
              </a:ext>
            </a:extLst>
          </p:cNvPr>
          <p:cNvSpPr txBox="1"/>
          <p:nvPr/>
        </p:nvSpPr>
        <p:spPr>
          <a:xfrm>
            <a:off x="3814911" y="2960687"/>
            <a:ext cx="14562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Mona Sans VF"/>
              </a:rPr>
              <a:t>Abdelrahman Ashraf</a:t>
            </a:r>
            <a:endParaRPr lang="ar-EG" sz="1000" dirty="0">
              <a:solidFill>
                <a:schemeClr val="bg1"/>
              </a:solidFill>
              <a:latin typeface="Mona Sans VF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E6DF41-7BAF-53AF-DD5B-85A789046B35}"/>
              </a:ext>
            </a:extLst>
          </p:cNvPr>
          <p:cNvSpPr txBox="1"/>
          <p:nvPr/>
        </p:nvSpPr>
        <p:spPr>
          <a:xfrm>
            <a:off x="5303843" y="2960686"/>
            <a:ext cx="1139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 Eslam Abdin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0EB82A-3FAD-EBB6-458B-8F3AE5082A20}"/>
              </a:ext>
            </a:extLst>
          </p:cNvPr>
          <p:cNvSpPr txBox="1"/>
          <p:nvPr/>
        </p:nvSpPr>
        <p:spPr>
          <a:xfrm>
            <a:off x="2635854" y="3220265"/>
            <a:ext cx="873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Heba Adel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469AA8-6AAF-3E6E-D77C-4D91D16964F9}"/>
              </a:ext>
            </a:extLst>
          </p:cNvPr>
          <p:cNvSpPr txBox="1"/>
          <p:nvPr/>
        </p:nvSpPr>
        <p:spPr>
          <a:xfrm>
            <a:off x="3879900" y="3199629"/>
            <a:ext cx="1341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Ahmed Abdelkhalek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891D2-2E31-E489-4BE0-9EC86B18ECE6}"/>
              </a:ext>
            </a:extLst>
          </p:cNvPr>
          <p:cNvSpPr txBox="1"/>
          <p:nvPr/>
        </p:nvSpPr>
        <p:spPr>
          <a:xfrm>
            <a:off x="5368643" y="3203044"/>
            <a:ext cx="1074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Neamat Gamal</a:t>
            </a:r>
            <a:endParaRPr lang="ar-EG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1432</Words>
  <Application>Microsoft Office PowerPoint</Application>
  <PresentationFormat>On-screen Show (16:9)</PresentationFormat>
  <Paragraphs>313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Open Sans</vt:lpstr>
      <vt:lpstr>Google Sans</vt:lpstr>
      <vt:lpstr>Arial</vt:lpstr>
      <vt:lpstr>Calibri</vt:lpstr>
      <vt:lpstr>Mona Sans VF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Nourahan Magdy Mohamed El-Gazouly Mekky</cp:lastModifiedBy>
  <cp:revision>23</cp:revision>
  <dcterms:created xsi:type="dcterms:W3CDTF">2026-05-12T13:24:29Z</dcterms:created>
  <dcterms:modified xsi:type="dcterms:W3CDTF">2026-05-23T23:43:50Z</dcterms:modified>
</cp:coreProperties>
</file>