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2" r:id="rId20"/>
    <p:sldId id="278" r:id="rId21"/>
    <p:sldId id="277" r:id="rId22"/>
    <p:sldId id="280" r:id="rId23"/>
    <p:sldId id="281" r:id="rId24"/>
    <p:sldId id="274" r:id="rId25"/>
    <p:sldId id="275" r:id="rId26"/>
    <p:sldId id="276" r:id="rId27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xNvgCMyZY/PcZnEHXvQ9FrVGP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0E8BB5-BF0A-46B4-AE6C-58DD8306B396}">
  <a:tblStyle styleId="{500E8BB5-BF0A-46B4-AE6C-58DD8306B39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BF1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BF1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449b8be4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g3e449b8be43_0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449b8be43_0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49b8be43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49b8be43_0_99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F8EA9BF3-48FE-07BA-90FE-AF4C8CB7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49b8be43_0_99:notes">
            <a:extLst>
              <a:ext uri="{FF2B5EF4-FFF2-40B4-BE49-F238E27FC236}">
                <a16:creationId xmlns:a16="http://schemas.microsoft.com/office/drawing/2014/main" id="{94E2DE9C-215F-0677-0EC7-8BB0F5F27A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49b8be43_0_99:notes">
            <a:extLst>
              <a:ext uri="{FF2B5EF4-FFF2-40B4-BE49-F238E27FC236}">
                <a16:creationId xmlns:a16="http://schemas.microsoft.com/office/drawing/2014/main" id="{8C36C14A-85BB-0807-9BE4-A19EFF3CD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325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FED9CDC4-4184-E4AA-882B-0DC02C49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49b8be43_0_99:notes">
            <a:extLst>
              <a:ext uri="{FF2B5EF4-FFF2-40B4-BE49-F238E27FC236}">
                <a16:creationId xmlns:a16="http://schemas.microsoft.com/office/drawing/2014/main" id="{798C210E-AE00-0AF4-DB32-092E3CD2C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49b8be43_0_99:notes">
            <a:extLst>
              <a:ext uri="{FF2B5EF4-FFF2-40B4-BE49-F238E27FC236}">
                <a16:creationId xmlns:a16="http://schemas.microsoft.com/office/drawing/2014/main" id="{45E34EC4-F43E-4E0B-0254-12923F74C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601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866440E8-1F41-12EE-1E42-0299AE0E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49b8be43_0_99:notes">
            <a:extLst>
              <a:ext uri="{FF2B5EF4-FFF2-40B4-BE49-F238E27FC236}">
                <a16:creationId xmlns:a16="http://schemas.microsoft.com/office/drawing/2014/main" id="{7C96F541-FBEA-3453-627A-814076FC4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49b8be43_0_99:notes">
            <a:extLst>
              <a:ext uri="{FF2B5EF4-FFF2-40B4-BE49-F238E27FC236}">
                <a16:creationId xmlns:a16="http://schemas.microsoft.com/office/drawing/2014/main" id="{FDCB1831-D403-7D1E-8382-4EF604B7F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546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E248355D-B534-C149-7E8B-6ABAE7DF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49b8be43_0_99:notes">
            <a:extLst>
              <a:ext uri="{FF2B5EF4-FFF2-40B4-BE49-F238E27FC236}">
                <a16:creationId xmlns:a16="http://schemas.microsoft.com/office/drawing/2014/main" id="{9584E566-505D-F502-1846-1DA547165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49b8be43_0_99:notes">
            <a:extLst>
              <a:ext uri="{FF2B5EF4-FFF2-40B4-BE49-F238E27FC236}">
                <a16:creationId xmlns:a16="http://schemas.microsoft.com/office/drawing/2014/main" id="{648A7965-4398-DD04-77E7-3FBB45BE8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770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>
          <a:extLst>
            <a:ext uri="{FF2B5EF4-FFF2-40B4-BE49-F238E27FC236}">
              <a16:creationId xmlns:a16="http://schemas.microsoft.com/office/drawing/2014/main" id="{709FECE2-52F0-0F20-A355-55A76F6D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449b8be43_0_99:notes">
            <a:extLst>
              <a:ext uri="{FF2B5EF4-FFF2-40B4-BE49-F238E27FC236}">
                <a16:creationId xmlns:a16="http://schemas.microsoft.com/office/drawing/2014/main" id="{0761F076-3AF3-8195-3969-ACE82D182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449b8be43_0_99:notes">
            <a:extLst>
              <a:ext uri="{FF2B5EF4-FFF2-40B4-BE49-F238E27FC236}">
                <a16:creationId xmlns:a16="http://schemas.microsoft.com/office/drawing/2014/main" id="{B1DA47D8-4318-9B39-F67E-6B956A1A4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167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449b8be43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449b8be43_0_27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449b8be4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449b8be43_0_32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449b8be43_16_0)">
  <p:cSld name="Generated (g3e449b8be43_16_0)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2A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 Type Classification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65760" y="2468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Using Sentinel-2 Satellite Images &amp; Deep Learning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65760" y="3291840"/>
            <a:ext cx="2011680" cy="3840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60" y="32918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EuroSAT 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514600" y="3291840"/>
            <a:ext cx="2011680" cy="3840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514600" y="32918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 / Transfer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663440" y="3291840"/>
            <a:ext cx="2011680" cy="3840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663440" y="32918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Land Classes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12280" y="3291840"/>
            <a:ext cx="2011680" cy="384048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12280" y="329184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DEPI — AI &amp; Data Science Track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12223" y="960120"/>
            <a:ext cx="80924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2223" y="960120"/>
            <a:ext cx="8088723" cy="64008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436273"/>
            <a:ext cx="3776133" cy="948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project involves classifying Land use land cover (LULC) using satellite imagery captured by the Sentinel-2 optical sensor.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Sentinel-2 is a European satellite that images the Earth every five days with a spatial resolution of up to 10 meters.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focuses on classifying land cover into types or categories using deep learning algorithms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0002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 descr="A screenshot of a computer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3902" y="905860"/>
            <a:ext cx="4853048" cy="4009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960120"/>
            <a:ext cx="40233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960120"/>
            <a:ext cx="402336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1051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94360" y="1554480"/>
            <a:ext cx="37490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Satellite data is massive and complex, manually labeling land use is slow, expensive, and unscalable.</a:t>
            </a:r>
            <a:b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Accurate land classification is critical for: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Urban &amp; infrastructure planning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Agriculture &amp; crop monitoring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Environmental conservation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Resource management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663440" y="960120"/>
            <a:ext cx="40233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663440" y="960120"/>
            <a:ext cx="4023360" cy="64008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754880" y="1051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Our Objective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800600" y="160020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Build a Deep Neural Network that automatically classifies land types from Sentinel-2 multispectral satellite images, across 10 categories, with high accuracy.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Dataset: EuroSAT (Sentinel-2)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20040" y="960120"/>
            <a:ext cx="1920240" cy="11887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20040" y="1005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27,000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20040" y="1645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Labeled Images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468880" y="960120"/>
            <a:ext cx="1920240" cy="11887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Meters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468880" y="1645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Spatial Resolution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617720" y="960120"/>
            <a:ext cx="1920240" cy="11887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617720" y="1005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64×64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617720" y="1645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Pixels / Image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766560" y="960120"/>
            <a:ext cx="1920240" cy="11887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762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66560" y="10058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Bands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766560" y="16459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Multi-Spectral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10 Land Classes: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2788920"/>
            <a:ext cx="3931920" cy="32918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66928" y="278892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1. Annual Crop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663440" y="2788920"/>
            <a:ext cx="3931920" cy="32918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773168" y="278892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2. Forest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3191256"/>
            <a:ext cx="3931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66928" y="319125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3. Herbaceous Veg.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663440" y="3191256"/>
            <a:ext cx="3931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773168" y="319125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4. Highway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3593592"/>
            <a:ext cx="3931920" cy="32918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66928" y="359359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5. Industrial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663440" y="3593592"/>
            <a:ext cx="3931920" cy="32918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773168" y="359359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6. Pasture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3995928"/>
            <a:ext cx="3931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66928" y="399592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7. Permanent Crop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663440" y="3995928"/>
            <a:ext cx="3931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773168" y="3995928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8. Residential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4398264"/>
            <a:ext cx="3931920" cy="32918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66928" y="439826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9. River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663440" y="4398264"/>
            <a:ext cx="3931920" cy="329184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773168" y="439826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10. Sea / Lake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→ Used RGB bands (2,3,4) for generalizability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4" descr="A blue and white logo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60" y="297560"/>
            <a:ext cx="1920240" cy="447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Project Pipeline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847088" y="1764792"/>
            <a:ext cx="164592" cy="54864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40664" y="91440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40664" y="914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74320" y="1691640"/>
            <a:ext cx="1572768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74320" y="1691640"/>
            <a:ext cx="1572768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47472" y="1773936"/>
            <a:ext cx="14264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Data Collection &amp; Processing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5760" y="2286000"/>
            <a:ext cx="138988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Download EuroSAT 27K images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Convert .tif to JPEG RGB bands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80/10/10 train/val/test split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584448" y="1764792"/>
            <a:ext cx="164592" cy="54864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478024" y="91440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478024" y="914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011680" y="1691640"/>
            <a:ext cx="1572768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2011680" y="1691640"/>
            <a:ext cx="1572768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084832" y="1773936"/>
            <a:ext cx="14264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EDA &amp; Preprocessing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103120" y="2286000"/>
            <a:ext cx="138988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Class distribution analysis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Spectral band visualization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Augmentation: flip, rotate, crop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321808" y="1764792"/>
            <a:ext cx="164592" cy="54864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15384" y="91440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215384" y="914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749040" y="1691640"/>
            <a:ext cx="1572768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749040" y="1691640"/>
            <a:ext cx="1572768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822192" y="1773936"/>
            <a:ext cx="14264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Model Development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840480" y="2286000"/>
            <a:ext cx="138988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ResNet50 Transfer Learning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RGB model + MS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Custom FC head + Dropout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059168" y="1764792"/>
            <a:ext cx="164592" cy="54864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952744" y="91440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952744" y="914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0" y="1691640"/>
            <a:ext cx="1572768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0" y="1691640"/>
            <a:ext cx="1572768" cy="54864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559552" y="1773936"/>
            <a:ext cx="14264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Evaluation &amp; Tuning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577840" y="2286000"/>
            <a:ext cx="138988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Accuracy, F1-score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Train/val loss curves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690104" y="914400"/>
            <a:ext cx="640080" cy="64008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690104" y="914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223760" y="1691640"/>
            <a:ext cx="1572768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223760" y="1691640"/>
            <a:ext cx="1572768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296912" y="1773936"/>
            <a:ext cx="14264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315200" y="2286000"/>
            <a:ext cx="138988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Streamlit Cloud deployment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Satellite image upload &amp; classify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Sliding-window segmentation map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28625" y="2454994"/>
            <a:ext cx="18573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28625" y="2735387"/>
            <a:ext cx="1857375" cy="35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 pixel values to [0, 1] for RGB and Sentinel-standard for TIF.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571750" y="2454994"/>
            <a:ext cx="18573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571750" y="2735387"/>
            <a:ext cx="1857375" cy="54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Random flips, rotations, and brightness shifts to boost robustness.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714875" y="2454994"/>
            <a:ext cx="18573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1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140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714875" y="2735387"/>
            <a:ext cx="1857375" cy="356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70% Train, 20% Val, 10% Test using stratified sampling.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858000" y="2454994"/>
            <a:ext cx="18573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sz="105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858000" y="2735387"/>
            <a:ext cx="1857375" cy="356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None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PyTorch pipelines with caching and prefetching.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11616" y="3802803"/>
            <a:ext cx="326949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800"/>
              <a:buFont typeface="Open Sans"/>
              <a:buNone/>
            </a:pPr>
            <a:r>
              <a:rPr lang="en-US" sz="800" b="1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Reproducibility:</a:t>
            </a:r>
            <a:r>
              <a:rPr lang="en-US" sz="850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8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Fixed random seeds used for consistent dataset shuffling and splitting.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054991" y="3816764"/>
            <a:ext cx="3636169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800"/>
              <a:buFont typeface="Open Sans"/>
              <a:buNone/>
            </a:pPr>
            <a:r>
              <a:rPr lang="en-US" sz="800" b="1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Efficiency:</a:t>
            </a:r>
            <a:r>
              <a:rPr lang="en-US" sz="850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8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Parallelized loading and RAM caching to minimize training bottlenecks.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6" descr="A green circle with arrows in it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3079" y="1674155"/>
            <a:ext cx="715890" cy="715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 descr="A green circle with arrows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5045" y="1676414"/>
            <a:ext cx="690784" cy="69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 descr="A green and yellow circular logo  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0843" y="1650235"/>
            <a:ext cx="648497" cy="648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 descr="A green gears with a black background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7221" y="1630209"/>
            <a:ext cx="810762" cy="81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 descr="A green circle with a white check mark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6380" y="3831884"/>
            <a:ext cx="228603" cy="228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 descr="A green circle with a white check mark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3005" y="3835810"/>
            <a:ext cx="228603" cy="228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Distribution Charts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 descr="A graph of a bar chart  AI-generated content may be incorrect."/>
          <p:cNvPicPr preferRelativeResize="0"/>
          <p:nvPr/>
        </p:nvPicPr>
        <p:blipFill rotWithShape="1">
          <a:blip r:embed="rId3">
            <a:alphaModFix/>
          </a:blip>
          <a:srcRect t="5001"/>
          <a:stretch/>
        </p:blipFill>
        <p:spPr>
          <a:xfrm>
            <a:off x="27921" y="1382068"/>
            <a:ext cx="9053258" cy="350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Images From Each Category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8" descr="A collage of different images of land  AI-generated content may be incorrect."/>
          <p:cNvPicPr preferRelativeResize="0"/>
          <p:nvPr/>
        </p:nvPicPr>
        <p:blipFill rotWithShape="1">
          <a:blip r:embed="rId3">
            <a:alphaModFix/>
          </a:blip>
          <a:srcRect t="3654"/>
          <a:stretch/>
        </p:blipFill>
        <p:spPr>
          <a:xfrm>
            <a:off x="75316" y="1360640"/>
            <a:ext cx="8990030" cy="3476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Displays RGB composite, NDVI, NDWI, and NDBI for one sample per class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9" descr="A collage of different colored squares  AI-generated content may be incorrect."/>
          <p:cNvPicPr preferRelativeResize="0"/>
          <p:nvPr/>
        </p:nvPicPr>
        <p:blipFill rotWithShape="1">
          <a:blip r:embed="rId3">
            <a:alphaModFix/>
          </a:blip>
          <a:srcRect b="49498"/>
          <a:stretch/>
        </p:blipFill>
        <p:spPr>
          <a:xfrm>
            <a:off x="836552" y="1195280"/>
            <a:ext cx="3310375" cy="3837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9" descr="A collage of different colored squares  AI-generated content may be incorrect."/>
          <p:cNvPicPr preferRelativeResize="0"/>
          <p:nvPr/>
        </p:nvPicPr>
        <p:blipFill rotWithShape="1">
          <a:blip r:embed="rId3">
            <a:alphaModFix/>
          </a:blip>
          <a:srcRect t="50502" b="268"/>
          <a:stretch/>
        </p:blipFill>
        <p:spPr>
          <a:xfrm>
            <a:off x="4480560" y="1291884"/>
            <a:ext cx="3310375" cy="374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 Spectral Band Values per Class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0" descr="A green and white chart  AI-generated content may be incorrect."/>
          <p:cNvPicPr preferRelativeResize="0"/>
          <p:nvPr/>
        </p:nvPicPr>
        <p:blipFill rotWithShape="1">
          <a:blip r:embed="rId3">
            <a:alphaModFix/>
          </a:blip>
          <a:srcRect t="4710"/>
          <a:stretch/>
        </p:blipFill>
        <p:spPr>
          <a:xfrm>
            <a:off x="972606" y="1243584"/>
            <a:ext cx="7061628" cy="383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57200" y="841248"/>
            <a:ext cx="168954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 5 Bands Per Class</a:t>
            </a:r>
            <a:endParaRPr sz="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1"/>
          <p:cNvGraphicFramePr/>
          <p:nvPr/>
        </p:nvGraphicFramePr>
        <p:xfrm>
          <a:off x="1301360" y="1227769"/>
          <a:ext cx="6726275" cy="3630530"/>
        </p:xfrm>
        <a:graphic>
          <a:graphicData uri="http://schemas.openxmlformats.org/drawingml/2006/table">
            <a:tbl>
              <a:tblPr>
                <a:noFill/>
                <a:tableStyleId>{500E8BB5-BF0A-46B4-AE6C-58DD8306B396}</a:tableStyleId>
              </a:tblPr>
              <a:tblGrid>
                <a:gridCol w="157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9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3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Class Name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Rank 1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Rank 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Rank 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Rank 4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Rank 5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Annual Crop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Forest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HerbaceousVegetation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Highway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Industrial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Pasture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PermanentCrop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Residential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River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B12 SWIR2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B07 RE-3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B08 NIR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B06 RE-2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B10 Cirrus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Sea/Lake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B01 Coastal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B02 Blue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B03 Green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B04 Red</a:t>
                      </a:r>
                      <a:endParaRPr/>
                    </a:p>
                  </a:txBody>
                  <a:tcPr marL="60425" marR="60425" marT="30200" marB="302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/>
                        <a:t>B05 RE-1</a:t>
                      </a:r>
                      <a:endParaRPr/>
                    </a:p>
                  </a:txBody>
                  <a:tcPr marL="60425" marR="60425" marT="30200" marB="30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Model Development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57200" y="749808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Architecture: ResNet50  •  Framework: PyTorch  •  Optimizer: Adam (lr=0.001)  •  Loss: CrossEntropyLoss  •  Epochs: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57200" y="1078992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65760" y="1170432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365760" y="1170432"/>
            <a:ext cx="3931920" cy="40233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02920" y="117043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2743200" y="1170432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3-channel input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65760" y="1664208"/>
            <a:ext cx="393192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75488" y="1664208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737360" y="1664208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ResNet50 (pretrained — ImageNet)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65760" y="2157984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75488" y="2157984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Frozen Layers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737360" y="2157984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All except FC head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65760" y="2651760"/>
            <a:ext cx="393192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75488" y="265176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Custom Head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737360" y="2651760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Linear(2048→512) → ReLU → Dropout(0.5) → Linear(512→N)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365760" y="3145536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75488" y="3145536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1737360" y="3145536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3-channel RGB images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365760" y="3639312"/>
            <a:ext cx="393192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75488" y="3639312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Trained Params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737360" y="3639312"/>
            <a:ext cx="24871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FC head only (fast fine-tuning)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4572000" y="1170432"/>
            <a:ext cx="42062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901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4572000" y="1170432"/>
            <a:ext cx="4206240" cy="402336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700016" y="117043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7132320" y="1170432"/>
            <a:ext cx="15544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13-channel input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4572000" y="1664208"/>
            <a:ext cx="420624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681728" y="16642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080760" y="1664208"/>
            <a:ext cx="2624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ResNet50 (random weights — no pretrain)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572000" y="2157984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681728" y="215798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Modified Conv1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080760" y="2157984"/>
            <a:ext cx="2624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Conv2d(13→64, k=7, stride=2) — custom input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572000" y="2651760"/>
            <a:ext cx="420624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681728" y="2651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Frozen Layers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080760" y="2651760"/>
            <a:ext cx="2624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All except conv1 + FC head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572000" y="3145536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4681728" y="314553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Custom Head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080760" y="3145536"/>
            <a:ext cx="2624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Linear(2048→512) → ReLU → Dropout(0.5) → Linear(512→N)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572000" y="3639312"/>
            <a:ext cx="4206240" cy="4572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681728" y="36393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Trained Params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080760" y="3639312"/>
            <a:ext cx="2624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conv1 + FC head (13-band specialization)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Training loop: forward pass → CrossEntropyLoss → backprop → Adam step  |  Tracked per epoch: train/val loss &amp; accuracy  |  Saved to Google Drive (.pth)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Model — Accuracy &amp; Loss Curves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3" descr="A graph of different colored lin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1" y="1243585"/>
            <a:ext cx="8412480" cy="346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 Model — Accuracy &amp; Loss Curves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4" descr="A graph of different colored lines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275419"/>
            <a:ext cx="8412480" cy="34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57200" y="749808"/>
            <a:ext cx="8321040" cy="274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0292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&amp; MS — Confusion Matrix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50292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RGB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80060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Multispectral — Confusion Matrix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5" descr="A screenshot of a computer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029" y="1191854"/>
            <a:ext cx="4183813" cy="3787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5" descr="A screenshot of a computer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9125" y="1191854"/>
            <a:ext cx="4219115" cy="3819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365760" y="960120"/>
            <a:ext cx="26974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57200" y="10515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Simple CNN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457200" y="164592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~84%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57200" y="246888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502920" y="2880360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Baseline 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3 conv blocks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Overfit after ~10 epochs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246120" y="960120"/>
            <a:ext cx="269748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3337560" y="1051560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CNN + Batch Norm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3337560" y="164592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~56%*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3337560" y="246888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3383280" y="2880360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Faster convergence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Still improving at 10 epochs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D2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13h vs 34h 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6126480" y="960120"/>
            <a:ext cx="2697480" cy="356616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177800" dist="508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6126480" y="96012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★  BEST MODEL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217920" y="135331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(VGG16)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217920" y="1947672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3800"/>
              <a:buFont typeface="Calibri"/>
              <a:buNone/>
            </a:pPr>
            <a:r>
              <a:rPr lang="en-US" sz="3800" b="1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~95%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6217920" y="2770632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6263640" y="3182112"/>
            <a:ext cx="24231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Pre-trained on ImageNet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Fine-tuned on EuroSAT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Best generalization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796F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* Batch Norm model still improving at epoch 10 — expected to exceed with more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449b8be43_0_24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Engineering the Pipeline</a:t>
            </a:r>
            <a:endParaRPr sz="3200" b="1" i="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449b8be43_0_24"/>
          <p:cNvSpPr/>
          <p:nvPr/>
        </p:nvSpPr>
        <p:spPr>
          <a:xfrm>
            <a:off x="457200" y="749808"/>
            <a:ext cx="8321100" cy="273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e449b8be43_0_24"/>
          <p:cNvSpPr/>
          <p:nvPr/>
        </p:nvSpPr>
        <p:spPr>
          <a:xfrm>
            <a:off x="365760" y="841248"/>
            <a:ext cx="8412600" cy="274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e449b8be43_0_24"/>
          <p:cNvSpPr/>
          <p:nvPr/>
        </p:nvSpPr>
        <p:spPr>
          <a:xfrm>
            <a:off x="502920" y="841248"/>
            <a:ext cx="8229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Environment &amp; Project Structure</a:t>
            </a:r>
            <a:endParaRPr sz="1200" b="1" i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g3e449b8be43_0_24"/>
          <p:cNvGrpSpPr/>
          <p:nvPr/>
        </p:nvGrpSpPr>
        <p:grpSpPr>
          <a:xfrm>
            <a:off x="365760" y="1333500"/>
            <a:ext cx="8412480" cy="3238500"/>
            <a:chOff x="365760" y="1333500"/>
            <a:chExt cx="8412480" cy="3238500"/>
          </a:xfrm>
        </p:grpSpPr>
        <p:sp>
          <p:nvSpPr>
            <p:cNvPr id="334" name="Google Shape;334;g3e449b8be43_0_24"/>
            <p:cNvSpPr/>
            <p:nvPr/>
          </p:nvSpPr>
          <p:spPr>
            <a:xfrm>
              <a:off x="365760" y="1333500"/>
              <a:ext cx="3048000" cy="3238500"/>
            </a:xfrm>
            <a:prstGeom prst="roundRect">
              <a:avLst>
                <a:gd name="adj" fmla="val 312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5" name="Google Shape;335;g3e449b8be43_0_24"/>
            <p:cNvGrpSpPr/>
            <p:nvPr/>
          </p:nvGrpSpPr>
          <p:grpSpPr>
            <a:xfrm>
              <a:off x="556260" y="1714500"/>
              <a:ext cx="1809750" cy="1971600"/>
              <a:chOff x="556260" y="1714500"/>
              <a:chExt cx="1809750" cy="1971600"/>
            </a:xfrm>
          </p:grpSpPr>
          <p:pic>
            <p:nvPicPr>
              <p:cNvPr id="336" name="Google Shape;336;g3e449b8be43_0_24"/>
              <p:cNvPicPr preferRelativeResize="0"/>
              <p:nvPr/>
            </p:nvPicPr>
            <p:blipFill rotWithShape="1">
              <a:blip r:embed="rId3">
                <a:alphaModFix/>
              </a:blip>
              <a:srcRect t="60" b="70"/>
              <a:stretch/>
            </p:blipFill>
            <p:spPr>
              <a:xfrm>
                <a:off x="1413510" y="1714500"/>
                <a:ext cx="952500" cy="895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7" name="Google Shape;337;g3e449b8be43_0_24"/>
              <p:cNvPicPr preferRelativeResize="0"/>
              <p:nvPr/>
            </p:nvPicPr>
            <p:blipFill rotWithShape="1">
              <a:blip r:embed="rId4">
                <a:alphaModFix/>
              </a:blip>
              <a:srcRect t="328" b="328"/>
              <a:stretch/>
            </p:blipFill>
            <p:spPr>
              <a:xfrm>
                <a:off x="1413510" y="2857500"/>
                <a:ext cx="952500" cy="828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g3e449b8be43_0_24"/>
              <p:cNvSpPr txBox="1"/>
              <p:nvPr/>
            </p:nvSpPr>
            <p:spPr>
              <a:xfrm>
                <a:off x="556260" y="1714500"/>
                <a:ext cx="762000" cy="89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2D6A4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Google Colab</a:t>
                </a:r>
                <a:endParaRPr sz="11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g3e449b8be43_0_24"/>
              <p:cNvSpPr txBox="1"/>
              <p:nvPr/>
            </p:nvSpPr>
            <p:spPr>
              <a:xfrm>
                <a:off x="556260" y="2857500"/>
                <a:ext cx="762000" cy="8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2D6A4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GitHub</a:t>
                </a:r>
                <a:endParaRPr sz="11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0" name="Google Shape;340;g3e449b8be43_0_24"/>
            <p:cNvSpPr/>
            <p:nvPr/>
          </p:nvSpPr>
          <p:spPr>
            <a:xfrm>
              <a:off x="3634740" y="1333500"/>
              <a:ext cx="5143500" cy="3238500"/>
            </a:xfrm>
            <a:prstGeom prst="roundRect">
              <a:avLst>
                <a:gd name="adj" fmla="val 2941"/>
              </a:avLst>
            </a:prstGeom>
            <a:solidFill>
              <a:srgbClr val="1B2D2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g3e449b8be43_0_24"/>
            <p:cNvSpPr txBox="1"/>
            <p:nvPr/>
          </p:nvSpPr>
          <p:spPr>
            <a:xfrm>
              <a:off x="3920490" y="1619250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74C69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DEPI_DataScience_Project/</a:t>
              </a:r>
              <a:endParaRPr sz="1100" b="1">
                <a:solidFill>
                  <a:srgbClr val="74C69D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config.py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Hyperparameters &amp; paths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data_loader.py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RGB &amp; MS handling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model.py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ResNet50 architecture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engine.py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Training logic &amp; AMP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train.py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Command Line execution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app.py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Streamlit Dashboard — classification &amp; segmentation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requirements.txt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Dependencies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0916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README.md</a:t>
              </a:r>
              <a:r>
                <a:rPr lang="en-US" sz="1100" b="0">
                  <a:solidFill>
                    <a:srgbClr val="D8F3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1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Project Documentation</a:t>
              </a:r>
              <a:endParaRPr sz="1100" b="0">
                <a:solidFill>
                  <a:srgbClr val="D8F3D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49b8be43_0_99"/>
          <p:cNvSpPr/>
          <p:nvPr/>
        </p:nvSpPr>
        <p:spPr>
          <a:xfrm>
            <a:off x="0" y="-19675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449b8be43_0_99"/>
          <p:cNvSpPr/>
          <p:nvPr/>
        </p:nvSpPr>
        <p:spPr>
          <a:xfrm>
            <a:off x="457200" y="1333500"/>
            <a:ext cx="3952800" cy="3238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449b8be43_0_99"/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Interactive Deployment: Streamlit Engine</a:t>
            </a:r>
            <a:endParaRPr sz="3200" b="1" i="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e449b8be43_0_99"/>
          <p:cNvSpPr/>
          <p:nvPr/>
        </p:nvSpPr>
        <p:spPr>
          <a:xfrm>
            <a:off x="4552950" y="1333500"/>
            <a:ext cx="4238700" cy="32385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3e449b8be43_0_99"/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e449b8be43_0_99"/>
          <p:cNvSpPr txBox="1"/>
          <p:nvPr/>
        </p:nvSpPr>
        <p:spPr>
          <a:xfrm>
            <a:off x="600075" y="1476375"/>
            <a:ext cx="36672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Streamlit Web Application</a:t>
            </a:r>
            <a:endParaRPr sz="1480" b="1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0833" algn="l" rtl="0">
              <a:spcBef>
                <a:spcPts val="1125"/>
              </a:spcBef>
              <a:spcAft>
                <a:spcPts val="0"/>
              </a:spcAft>
              <a:buSzPts val="1295"/>
              <a:buFont typeface="Calibri"/>
              <a:buChar char="●"/>
            </a:pPr>
            <a:r>
              <a:rPr lang="en-US" sz="1018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Dashboard Deployment:</a:t>
            </a:r>
            <a:br>
              <a:rPr lang="en-US" sz="1295">
                <a:latin typeface="Calibri"/>
                <a:ea typeface="Calibri"/>
                <a:cs typeface="Calibri"/>
                <a:sym typeface="Calibri"/>
              </a:rPr>
            </a:br>
            <a:r>
              <a:rPr lang="en-US" sz="971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Deployed on Streamlit Cloud with a clean two-tab interface for instant access from any browser.</a:t>
            </a:r>
            <a:endParaRPr sz="1295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0833" algn="l" rtl="0">
              <a:spcBef>
                <a:spcPts val="900"/>
              </a:spcBef>
              <a:spcAft>
                <a:spcPts val="0"/>
              </a:spcAft>
              <a:buSzPts val="1295"/>
              <a:buFont typeface="Calibri"/>
              <a:buChar char="●"/>
            </a:pPr>
            <a:r>
              <a:rPr lang="en-US" sz="1018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Real-Time Inference:</a:t>
            </a:r>
            <a:br>
              <a:rPr lang="en-US" sz="1295">
                <a:latin typeface="Calibri"/>
                <a:ea typeface="Calibri"/>
                <a:cs typeface="Calibri"/>
                <a:sym typeface="Calibri"/>
              </a:rPr>
            </a:br>
            <a:r>
              <a:rPr lang="en-US" sz="971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Instant LULC classification across 10 land-cover categories for .jpg (RGB) or .tif (13-band MS) Sentinel-2 patches, with Top-3 probability scores.</a:t>
            </a:r>
            <a:endParaRPr sz="1295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0833" algn="l" rtl="0">
              <a:spcBef>
                <a:spcPts val="900"/>
              </a:spcBef>
              <a:spcAft>
                <a:spcPts val="0"/>
              </a:spcAft>
              <a:buSzPts val="1295"/>
              <a:buFont typeface="Calibri"/>
              <a:buChar char="●"/>
            </a:pPr>
            <a:r>
              <a:rPr lang="en-US" sz="1018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Segmentation Map:</a:t>
            </a:r>
            <a:br>
              <a:rPr lang="en-US" sz="1295">
                <a:latin typeface="Calibri"/>
                <a:ea typeface="Calibri"/>
                <a:cs typeface="Calibri"/>
                <a:sym typeface="Calibri"/>
              </a:rPr>
            </a:br>
            <a:r>
              <a:rPr lang="en-US" sz="971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Sliding-window analysis divides large images into 64x64 patches, classifies each independently, and renders a colour-coded land-cover map with area statistics.</a:t>
            </a:r>
            <a:endParaRPr sz="1295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0833" algn="l" rtl="0">
              <a:spcBef>
                <a:spcPts val="900"/>
              </a:spcBef>
              <a:spcAft>
                <a:spcPts val="0"/>
              </a:spcAft>
              <a:buSzPts val="1295"/>
              <a:buFont typeface="Calibri"/>
              <a:buChar char="●"/>
            </a:pPr>
            <a:r>
              <a:rPr lang="en-US" sz="1018" b="1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Geospatial Insights:</a:t>
            </a:r>
            <a:br>
              <a:rPr lang="en-US" sz="1295">
                <a:latin typeface="Calibri"/>
                <a:ea typeface="Calibri"/>
                <a:cs typeface="Calibri"/>
                <a:sym typeface="Calibri"/>
              </a:rPr>
            </a:br>
            <a:r>
              <a:rPr lang="en-US" sz="971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rPr>
              <a:t>Toggle between RGB Natural Color and False Color Composite (NIR-Red-Green) views to highlight vegetation health across the uploaded scene.</a:t>
            </a:r>
            <a:endParaRPr sz="129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e449b8be43_0_99"/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449b8be43_0_99"/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Interactive Dashboard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22E3CE-7994-DA17-D224-4AA28E18B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62775"/>
            <a:ext cx="3984561" cy="22823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4E949361-43C2-8BC2-4D3A-D9FC008CF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49b8be43_0_99">
            <a:extLst>
              <a:ext uri="{FF2B5EF4-FFF2-40B4-BE49-F238E27FC236}">
                <a16:creationId xmlns:a16="http://schemas.microsoft.com/office/drawing/2014/main" id="{95A2C778-7834-D022-E92E-3E966D269F09}"/>
              </a:ext>
            </a:extLst>
          </p:cNvPr>
          <p:cNvSpPr/>
          <p:nvPr/>
        </p:nvSpPr>
        <p:spPr>
          <a:xfrm>
            <a:off x="0" y="-19675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449b8be43_0_99">
            <a:extLst>
              <a:ext uri="{FF2B5EF4-FFF2-40B4-BE49-F238E27FC236}">
                <a16:creationId xmlns:a16="http://schemas.microsoft.com/office/drawing/2014/main" id="{962559A9-56B5-A706-9370-191EA22CFBDF}"/>
              </a:ext>
            </a:extLst>
          </p:cNvPr>
          <p:cNvSpPr/>
          <p:nvPr/>
        </p:nvSpPr>
        <p:spPr>
          <a:xfrm>
            <a:off x="457200" y="1285800"/>
            <a:ext cx="8410500" cy="36753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449b8be43_0_99">
            <a:extLst>
              <a:ext uri="{FF2B5EF4-FFF2-40B4-BE49-F238E27FC236}">
                <a16:creationId xmlns:a16="http://schemas.microsoft.com/office/drawing/2014/main" id="{7F309469-1F01-2E11-B578-BA870E3A55E6}"/>
              </a:ext>
            </a:extLst>
          </p:cNvPr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Interactive Deployment: Streamlit Engine</a:t>
            </a:r>
            <a:endParaRPr sz="3200" b="1" i="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449b8be43_0_99">
            <a:extLst>
              <a:ext uri="{FF2B5EF4-FFF2-40B4-BE49-F238E27FC236}">
                <a16:creationId xmlns:a16="http://schemas.microsoft.com/office/drawing/2014/main" id="{0942E4C5-DF30-650A-BA76-E38AE93026C7}"/>
              </a:ext>
            </a:extLst>
          </p:cNvPr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449b8be43_0_99">
            <a:extLst>
              <a:ext uri="{FF2B5EF4-FFF2-40B4-BE49-F238E27FC236}">
                <a16:creationId xmlns:a16="http://schemas.microsoft.com/office/drawing/2014/main" id="{F7140EC7-797A-6A50-1553-1476B9CA54A6}"/>
              </a:ext>
            </a:extLst>
          </p:cNvPr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449b8be43_0_99">
            <a:extLst>
              <a:ext uri="{FF2B5EF4-FFF2-40B4-BE49-F238E27FC236}">
                <a16:creationId xmlns:a16="http://schemas.microsoft.com/office/drawing/2014/main" id="{F86A6AF1-A584-4B60-507B-CFE9203F1F8B}"/>
              </a:ext>
            </a:extLst>
          </p:cNvPr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Interactive Dashboard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F27B5-30E2-7EDC-EA19-B501D51B68CB}"/>
              </a:ext>
            </a:extLst>
          </p:cNvPr>
          <p:cNvSpPr txBox="1"/>
          <p:nvPr/>
        </p:nvSpPr>
        <p:spPr>
          <a:xfrm>
            <a:off x="896400" y="1555622"/>
            <a:ext cx="1816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accent6">
                    <a:lumMod val="75000"/>
                  </a:schemeClr>
                </a:solidFill>
                <a:effectLst/>
                <a:latin typeface="Google Sans"/>
              </a:rPr>
              <a:t>Oberdorla, Germany</a:t>
            </a:r>
            <a:endParaRPr lang="ar-EG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7" descr="A green and black logo&#10;&#10;AI-generated content may be incorrect.">
            <a:extLst>
              <a:ext uri="{FF2B5EF4-FFF2-40B4-BE49-F238E27FC236}">
                <a16:creationId xmlns:a16="http://schemas.microsoft.com/office/drawing/2014/main" id="{6B85E616-0CD7-3B56-FC38-116BDB115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23" y="1523520"/>
            <a:ext cx="307777" cy="307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A44A42-6BA4-8E16-F604-14A21F0721DC}"/>
              </a:ext>
            </a:extLst>
          </p:cNvPr>
          <p:cNvSpPr txBox="1"/>
          <p:nvPr/>
        </p:nvSpPr>
        <p:spPr>
          <a:xfrm>
            <a:off x="896400" y="2129497"/>
            <a:ext cx="1816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Google Sans"/>
              </a:rPr>
              <a:t>https://browser.dataspace.copernicus.eu/</a:t>
            </a:r>
            <a:endParaRPr lang="ar-EG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1" name="Picture 10" descr="A logo of a planet earth&#10;&#10;AI-generated content may be incorrect.">
            <a:extLst>
              <a:ext uri="{FF2B5EF4-FFF2-40B4-BE49-F238E27FC236}">
                <a16:creationId xmlns:a16="http://schemas.microsoft.com/office/drawing/2014/main" id="{C714DA92-F95C-BE31-55EF-6095337EB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60" y="2119134"/>
            <a:ext cx="342902" cy="342902"/>
          </a:xfrm>
          <a:prstGeom prst="rect">
            <a:avLst/>
          </a:prstGeom>
        </p:spPr>
      </p:pic>
      <p:pic>
        <p:nvPicPr>
          <p:cNvPr id="3" name="Picture 2" descr="A satellite view of a city&#10;&#10;AI-generated content may be incorrect.">
            <a:extLst>
              <a:ext uri="{FF2B5EF4-FFF2-40B4-BE49-F238E27FC236}">
                <a16:creationId xmlns:a16="http://schemas.microsoft.com/office/drawing/2014/main" id="{F589A090-0D10-62EB-F8ED-F4C1C550B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326" y="1333649"/>
            <a:ext cx="5873153" cy="363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5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E8AF3F81-CE19-0EA2-4476-232CBB69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49b8be43_0_99">
            <a:extLst>
              <a:ext uri="{FF2B5EF4-FFF2-40B4-BE49-F238E27FC236}">
                <a16:creationId xmlns:a16="http://schemas.microsoft.com/office/drawing/2014/main" id="{CAB8F06E-FA44-23D3-795D-DECEFA8C7412}"/>
              </a:ext>
            </a:extLst>
          </p:cNvPr>
          <p:cNvSpPr/>
          <p:nvPr/>
        </p:nvSpPr>
        <p:spPr>
          <a:xfrm>
            <a:off x="0" y="-19675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449b8be43_0_99">
            <a:extLst>
              <a:ext uri="{FF2B5EF4-FFF2-40B4-BE49-F238E27FC236}">
                <a16:creationId xmlns:a16="http://schemas.microsoft.com/office/drawing/2014/main" id="{9A3FEBFA-D71E-EB14-0946-2F89AA8D1ED4}"/>
              </a:ext>
            </a:extLst>
          </p:cNvPr>
          <p:cNvSpPr/>
          <p:nvPr/>
        </p:nvSpPr>
        <p:spPr>
          <a:xfrm>
            <a:off x="457200" y="1231200"/>
            <a:ext cx="8315250" cy="3751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449b8be43_0_99">
            <a:extLst>
              <a:ext uri="{FF2B5EF4-FFF2-40B4-BE49-F238E27FC236}">
                <a16:creationId xmlns:a16="http://schemas.microsoft.com/office/drawing/2014/main" id="{75A93BE3-9ED6-994F-EC2E-8BE63703EE15}"/>
              </a:ext>
            </a:extLst>
          </p:cNvPr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Interactive Deployment: Streamlit Engine</a:t>
            </a:r>
            <a:endParaRPr sz="3200" b="1" i="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449b8be43_0_99">
            <a:extLst>
              <a:ext uri="{FF2B5EF4-FFF2-40B4-BE49-F238E27FC236}">
                <a16:creationId xmlns:a16="http://schemas.microsoft.com/office/drawing/2014/main" id="{052C2608-56AA-4C8B-1D5D-F0A4CAB2397A}"/>
              </a:ext>
            </a:extLst>
          </p:cNvPr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449b8be43_0_99">
            <a:extLst>
              <a:ext uri="{FF2B5EF4-FFF2-40B4-BE49-F238E27FC236}">
                <a16:creationId xmlns:a16="http://schemas.microsoft.com/office/drawing/2014/main" id="{F4221D02-9A0B-80B7-CEA9-3C1BB6C1B9CF}"/>
              </a:ext>
            </a:extLst>
          </p:cNvPr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449b8be43_0_99">
            <a:extLst>
              <a:ext uri="{FF2B5EF4-FFF2-40B4-BE49-F238E27FC236}">
                <a16:creationId xmlns:a16="http://schemas.microsoft.com/office/drawing/2014/main" id="{3911E3FF-333C-3F87-2837-8731D6DADC42}"/>
              </a:ext>
            </a:extLst>
          </p:cNvPr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Interactive Dashboard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6;g3e449b8be43_0_99">
            <a:extLst>
              <a:ext uri="{FF2B5EF4-FFF2-40B4-BE49-F238E27FC236}">
                <a16:creationId xmlns:a16="http://schemas.microsoft.com/office/drawing/2014/main" id="{65AAE1FB-4E7E-AAE0-6079-21A80BE65A36}"/>
              </a:ext>
            </a:extLst>
          </p:cNvPr>
          <p:cNvSpPr txBox="1"/>
          <p:nvPr/>
        </p:nvSpPr>
        <p:spPr>
          <a:xfrm>
            <a:off x="2240663" y="4794900"/>
            <a:ext cx="3952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Interactive Dashboard UI Preview</a:t>
            </a:r>
            <a:endParaRPr sz="1000" i="1" dirty="0">
              <a:solidFill>
                <a:srgbClr val="5279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satellite image&#10;&#10;AI-generated content may be incorrect.">
            <a:extLst>
              <a:ext uri="{FF2B5EF4-FFF2-40B4-BE49-F238E27FC236}">
                <a16:creationId xmlns:a16="http://schemas.microsoft.com/office/drawing/2014/main" id="{EF3BEF03-64A9-736C-CC46-E8B4B0101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50" y="1285800"/>
            <a:ext cx="8229600" cy="351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0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02A1A6C2-8D2A-8FC0-5FBC-CC330002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49b8be43_0_99">
            <a:extLst>
              <a:ext uri="{FF2B5EF4-FFF2-40B4-BE49-F238E27FC236}">
                <a16:creationId xmlns:a16="http://schemas.microsoft.com/office/drawing/2014/main" id="{82D82F13-E14E-6298-A362-EFF3E941FAB9}"/>
              </a:ext>
            </a:extLst>
          </p:cNvPr>
          <p:cNvSpPr/>
          <p:nvPr/>
        </p:nvSpPr>
        <p:spPr>
          <a:xfrm>
            <a:off x="0" y="-19675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449b8be43_0_99">
            <a:extLst>
              <a:ext uri="{FF2B5EF4-FFF2-40B4-BE49-F238E27FC236}">
                <a16:creationId xmlns:a16="http://schemas.microsoft.com/office/drawing/2014/main" id="{C500CF0D-F3E1-6B5C-4F56-C8450C91AA57}"/>
              </a:ext>
            </a:extLst>
          </p:cNvPr>
          <p:cNvSpPr/>
          <p:nvPr/>
        </p:nvSpPr>
        <p:spPr>
          <a:xfrm>
            <a:off x="457200" y="1231200"/>
            <a:ext cx="8315250" cy="3751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449b8be43_0_99">
            <a:extLst>
              <a:ext uri="{FF2B5EF4-FFF2-40B4-BE49-F238E27FC236}">
                <a16:creationId xmlns:a16="http://schemas.microsoft.com/office/drawing/2014/main" id="{168BE28B-DE1F-ABC3-2886-DBF28C854830}"/>
              </a:ext>
            </a:extLst>
          </p:cNvPr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Interactive Deployment: Streamlit Engine</a:t>
            </a:r>
            <a:endParaRPr sz="3200" b="1" i="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449b8be43_0_99">
            <a:extLst>
              <a:ext uri="{FF2B5EF4-FFF2-40B4-BE49-F238E27FC236}">
                <a16:creationId xmlns:a16="http://schemas.microsoft.com/office/drawing/2014/main" id="{D0954011-93C9-55F7-F14C-7DA4CFDAD892}"/>
              </a:ext>
            </a:extLst>
          </p:cNvPr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449b8be43_0_99">
            <a:extLst>
              <a:ext uri="{FF2B5EF4-FFF2-40B4-BE49-F238E27FC236}">
                <a16:creationId xmlns:a16="http://schemas.microsoft.com/office/drawing/2014/main" id="{944456E1-0B1B-E2F9-B074-84760C45BD2C}"/>
              </a:ext>
            </a:extLst>
          </p:cNvPr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449b8be43_0_99">
            <a:extLst>
              <a:ext uri="{FF2B5EF4-FFF2-40B4-BE49-F238E27FC236}">
                <a16:creationId xmlns:a16="http://schemas.microsoft.com/office/drawing/2014/main" id="{819A64F4-64A2-9D12-085B-55EEEE89FF02}"/>
              </a:ext>
            </a:extLst>
          </p:cNvPr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Interactive Dashboard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6;g3e449b8be43_0_99"/>
          <p:cNvSpPr txBox="1"/>
          <p:nvPr/>
        </p:nvSpPr>
        <p:spPr>
          <a:xfrm>
            <a:off x="2240663" y="4794900"/>
            <a:ext cx="3952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Interactive Dashboard UI Preview</a:t>
            </a:r>
            <a:endParaRPr sz="1000" i="1" dirty="0">
              <a:solidFill>
                <a:srgbClr val="5279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3C5752-0699-6A71-FDFF-62BC290C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7" y="1417929"/>
            <a:ext cx="7178322" cy="337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08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4CFE7BEE-8022-E76C-4AFF-35A1944A5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49b8be43_0_99">
            <a:extLst>
              <a:ext uri="{FF2B5EF4-FFF2-40B4-BE49-F238E27FC236}">
                <a16:creationId xmlns:a16="http://schemas.microsoft.com/office/drawing/2014/main" id="{9A1A1983-0175-7DFD-A9F4-857BB76C0829}"/>
              </a:ext>
            </a:extLst>
          </p:cNvPr>
          <p:cNvSpPr/>
          <p:nvPr/>
        </p:nvSpPr>
        <p:spPr>
          <a:xfrm>
            <a:off x="0" y="-19675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449b8be43_0_99">
            <a:extLst>
              <a:ext uri="{FF2B5EF4-FFF2-40B4-BE49-F238E27FC236}">
                <a16:creationId xmlns:a16="http://schemas.microsoft.com/office/drawing/2014/main" id="{B1C999FB-C01A-85D5-1680-31449F0F26BE}"/>
              </a:ext>
            </a:extLst>
          </p:cNvPr>
          <p:cNvSpPr/>
          <p:nvPr/>
        </p:nvSpPr>
        <p:spPr>
          <a:xfrm>
            <a:off x="457200" y="1231200"/>
            <a:ext cx="8315250" cy="3751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449b8be43_0_99">
            <a:extLst>
              <a:ext uri="{FF2B5EF4-FFF2-40B4-BE49-F238E27FC236}">
                <a16:creationId xmlns:a16="http://schemas.microsoft.com/office/drawing/2014/main" id="{446026C4-9AB3-4842-E372-A0571C64C79B}"/>
              </a:ext>
            </a:extLst>
          </p:cNvPr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Interactive Deployment: Streamlit Engine</a:t>
            </a:r>
            <a:endParaRPr sz="3200" b="1" i="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449b8be43_0_99">
            <a:extLst>
              <a:ext uri="{FF2B5EF4-FFF2-40B4-BE49-F238E27FC236}">
                <a16:creationId xmlns:a16="http://schemas.microsoft.com/office/drawing/2014/main" id="{502A2C37-A523-4052-028A-476BB3FD9BB8}"/>
              </a:ext>
            </a:extLst>
          </p:cNvPr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449b8be43_0_99">
            <a:extLst>
              <a:ext uri="{FF2B5EF4-FFF2-40B4-BE49-F238E27FC236}">
                <a16:creationId xmlns:a16="http://schemas.microsoft.com/office/drawing/2014/main" id="{CE231891-4F91-C713-30E0-09FC16F2ED4A}"/>
              </a:ext>
            </a:extLst>
          </p:cNvPr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449b8be43_0_99">
            <a:extLst>
              <a:ext uri="{FF2B5EF4-FFF2-40B4-BE49-F238E27FC236}">
                <a16:creationId xmlns:a16="http://schemas.microsoft.com/office/drawing/2014/main" id="{857902D2-9361-804D-9BE9-8AEBC816EE0B}"/>
              </a:ext>
            </a:extLst>
          </p:cNvPr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Interactive Dashboard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6;g3e449b8be43_0_99">
            <a:extLst>
              <a:ext uri="{FF2B5EF4-FFF2-40B4-BE49-F238E27FC236}">
                <a16:creationId xmlns:a16="http://schemas.microsoft.com/office/drawing/2014/main" id="{78D72BEF-658B-CBE8-E906-50904B00A0DB}"/>
              </a:ext>
            </a:extLst>
          </p:cNvPr>
          <p:cNvSpPr txBox="1"/>
          <p:nvPr/>
        </p:nvSpPr>
        <p:spPr>
          <a:xfrm>
            <a:off x="2240663" y="4794900"/>
            <a:ext cx="3952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Interactive Dashboard UI Preview</a:t>
            </a:r>
            <a:endParaRPr sz="1000" i="1" dirty="0">
              <a:solidFill>
                <a:srgbClr val="5279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screenshot of a map&#10;&#10;AI-generated content may be incorrect.">
            <a:extLst>
              <a:ext uri="{FF2B5EF4-FFF2-40B4-BE49-F238E27FC236}">
                <a16:creationId xmlns:a16="http://schemas.microsoft.com/office/drawing/2014/main" id="{1D9D7B5E-D7EA-2D92-2E9A-277D5C5F2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35" y="1333650"/>
            <a:ext cx="8191565" cy="343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81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>
          <a:extLst>
            <a:ext uri="{FF2B5EF4-FFF2-40B4-BE49-F238E27FC236}">
              <a16:creationId xmlns:a16="http://schemas.microsoft.com/office/drawing/2014/main" id="{089284EB-411E-E4F3-CBD1-314E7DCE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449b8be43_0_99">
            <a:extLst>
              <a:ext uri="{FF2B5EF4-FFF2-40B4-BE49-F238E27FC236}">
                <a16:creationId xmlns:a16="http://schemas.microsoft.com/office/drawing/2014/main" id="{14CF2C80-4441-B6F4-6F5D-F692D616B4D0}"/>
              </a:ext>
            </a:extLst>
          </p:cNvPr>
          <p:cNvSpPr/>
          <p:nvPr/>
        </p:nvSpPr>
        <p:spPr>
          <a:xfrm>
            <a:off x="0" y="-19675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e449b8be43_0_99">
            <a:extLst>
              <a:ext uri="{FF2B5EF4-FFF2-40B4-BE49-F238E27FC236}">
                <a16:creationId xmlns:a16="http://schemas.microsoft.com/office/drawing/2014/main" id="{9729C897-065D-411F-8827-A51F001EDBB8}"/>
              </a:ext>
            </a:extLst>
          </p:cNvPr>
          <p:cNvSpPr/>
          <p:nvPr/>
        </p:nvSpPr>
        <p:spPr>
          <a:xfrm>
            <a:off x="457200" y="1231200"/>
            <a:ext cx="8315250" cy="37512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3e449b8be43_0_99">
            <a:extLst>
              <a:ext uri="{FF2B5EF4-FFF2-40B4-BE49-F238E27FC236}">
                <a16:creationId xmlns:a16="http://schemas.microsoft.com/office/drawing/2014/main" id="{8C6F30D9-D610-3DCC-7E2C-126854A58D36}"/>
              </a:ext>
            </a:extLst>
          </p:cNvPr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Interactive Deployment: Streamlit Engine</a:t>
            </a:r>
            <a:endParaRPr sz="3200" b="1" i="0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449b8be43_0_99">
            <a:extLst>
              <a:ext uri="{FF2B5EF4-FFF2-40B4-BE49-F238E27FC236}">
                <a16:creationId xmlns:a16="http://schemas.microsoft.com/office/drawing/2014/main" id="{35838F3D-981C-7D78-E762-04ABE91FA949}"/>
              </a:ext>
            </a:extLst>
          </p:cNvPr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449b8be43_0_99">
            <a:extLst>
              <a:ext uri="{FF2B5EF4-FFF2-40B4-BE49-F238E27FC236}">
                <a16:creationId xmlns:a16="http://schemas.microsoft.com/office/drawing/2014/main" id="{1729D330-E4C5-5570-0FDA-570379AF0AEA}"/>
              </a:ext>
            </a:extLst>
          </p:cNvPr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e449b8be43_0_99">
            <a:extLst>
              <a:ext uri="{FF2B5EF4-FFF2-40B4-BE49-F238E27FC236}">
                <a16:creationId xmlns:a16="http://schemas.microsoft.com/office/drawing/2014/main" id="{A7B8D5AD-E01B-E41D-4276-2A264B655D1A}"/>
              </a:ext>
            </a:extLst>
          </p:cNvPr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&amp; Interactive Dashboard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56;g3e449b8be43_0_99">
            <a:extLst>
              <a:ext uri="{FF2B5EF4-FFF2-40B4-BE49-F238E27FC236}">
                <a16:creationId xmlns:a16="http://schemas.microsoft.com/office/drawing/2014/main" id="{04AF6565-1BC9-ADAC-040F-71F3850DA547}"/>
              </a:ext>
            </a:extLst>
          </p:cNvPr>
          <p:cNvSpPr txBox="1"/>
          <p:nvPr/>
        </p:nvSpPr>
        <p:spPr>
          <a:xfrm>
            <a:off x="2240663" y="4794900"/>
            <a:ext cx="3952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2796F"/>
                </a:solidFill>
                <a:latin typeface="Calibri"/>
                <a:ea typeface="Calibri"/>
                <a:cs typeface="Calibri"/>
                <a:sym typeface="Calibri"/>
              </a:rPr>
              <a:t>Interactive Dashboard UI Preview</a:t>
            </a:r>
            <a:endParaRPr sz="1000" i="1" dirty="0">
              <a:solidFill>
                <a:srgbClr val="52796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E76C9BB8-BCFD-AD55-1C3A-CC846B21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3" y="1351417"/>
            <a:ext cx="7687733" cy="341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74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449b8be43_0_273"/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Future Scope: Scaling the Geospatial Impact</a:t>
            </a:r>
            <a:endParaRPr sz="3200" b="1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e449b8be43_0_273"/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e449b8be43_0_273"/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e449b8be43_0_273"/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 Evolution &amp; Regional Integration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g3e449b8be43_0_273"/>
          <p:cNvGrpSpPr/>
          <p:nvPr/>
        </p:nvGrpSpPr>
        <p:grpSpPr>
          <a:xfrm>
            <a:off x="457200" y="1333500"/>
            <a:ext cx="8229750" cy="3238500"/>
            <a:chOff x="457200" y="1333500"/>
            <a:chExt cx="8229750" cy="3238500"/>
          </a:xfrm>
        </p:grpSpPr>
        <p:sp>
          <p:nvSpPr>
            <p:cNvPr id="367" name="Google Shape;367;g3e449b8be43_0_273"/>
            <p:cNvSpPr/>
            <p:nvPr/>
          </p:nvSpPr>
          <p:spPr>
            <a:xfrm>
              <a:off x="457200" y="13335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g3e449b8be43_0_273"/>
            <p:cNvSpPr/>
            <p:nvPr/>
          </p:nvSpPr>
          <p:spPr>
            <a:xfrm>
              <a:off x="3286125" y="13335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g3e449b8be43_0_273"/>
            <p:cNvSpPr/>
            <p:nvPr/>
          </p:nvSpPr>
          <p:spPr>
            <a:xfrm>
              <a:off x="6115050" y="13335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0" name="Google Shape;370;g3e449b8be43_0_273"/>
            <p:cNvPicPr preferRelativeResize="0"/>
            <p:nvPr/>
          </p:nvPicPr>
          <p:blipFill rotWithShape="1">
            <a:blip r:embed="rId3">
              <a:alphaModFix/>
            </a:blip>
            <a:srcRect t="28127" b="28123"/>
            <a:stretch/>
          </p:blipFill>
          <p:spPr>
            <a:xfrm>
              <a:off x="600075" y="1476375"/>
              <a:ext cx="2286000" cy="1428900"/>
            </a:xfrm>
            <a:prstGeom prst="roundRect">
              <a:avLst>
                <a:gd name="adj" fmla="val 5333"/>
              </a:avLst>
            </a:prstGeom>
            <a:noFill/>
            <a:ln>
              <a:noFill/>
            </a:ln>
          </p:spPr>
        </p:pic>
        <p:pic>
          <p:nvPicPr>
            <p:cNvPr id="371" name="Google Shape;371;g3e449b8be43_0_273"/>
            <p:cNvPicPr preferRelativeResize="0"/>
            <p:nvPr/>
          </p:nvPicPr>
          <p:blipFill rotWithShape="1">
            <a:blip r:embed="rId4">
              <a:alphaModFix/>
            </a:blip>
            <a:srcRect t="28127" b="28123"/>
            <a:stretch/>
          </p:blipFill>
          <p:spPr>
            <a:xfrm>
              <a:off x="3429000" y="1476375"/>
              <a:ext cx="2286000" cy="1428900"/>
            </a:xfrm>
            <a:prstGeom prst="roundRect">
              <a:avLst>
                <a:gd name="adj" fmla="val 5333"/>
              </a:avLst>
            </a:prstGeom>
            <a:noFill/>
            <a:ln>
              <a:noFill/>
            </a:ln>
          </p:spPr>
        </p:pic>
        <p:pic>
          <p:nvPicPr>
            <p:cNvPr id="372" name="Google Shape;372;g3e449b8be43_0_273"/>
            <p:cNvPicPr preferRelativeResize="0"/>
            <p:nvPr/>
          </p:nvPicPr>
          <p:blipFill rotWithShape="1">
            <a:blip r:embed="rId5">
              <a:alphaModFix/>
            </a:blip>
            <a:srcRect l="6362" r="6362"/>
            <a:stretch/>
          </p:blipFill>
          <p:spPr>
            <a:xfrm>
              <a:off x="6257925" y="1476375"/>
              <a:ext cx="2286000" cy="1428900"/>
            </a:xfrm>
            <a:prstGeom prst="roundRect">
              <a:avLst>
                <a:gd name="adj" fmla="val 5333"/>
              </a:avLst>
            </a:prstGeom>
            <a:noFill/>
            <a:ln>
              <a:noFill/>
            </a:ln>
          </p:spPr>
        </p:pic>
        <p:sp>
          <p:nvSpPr>
            <p:cNvPr id="373" name="Google Shape;373;g3e449b8be43_0_273"/>
            <p:cNvSpPr txBox="1"/>
            <p:nvPr/>
          </p:nvSpPr>
          <p:spPr>
            <a:xfrm>
              <a:off x="600075" y="300037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Climate &amp; Change</a:t>
              </a:r>
              <a:endParaRPr sz="14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Correlate LULC shifts with environmental variables for long-term predictive models and automated deforestation tracking.</a:t>
              </a:r>
              <a:endParaRPr sz="1100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g3e449b8be43_0_273"/>
            <p:cNvSpPr txBox="1"/>
            <p:nvPr/>
          </p:nvSpPr>
          <p:spPr>
            <a:xfrm>
              <a:off x="3429000" y="300037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Live Integration</a:t>
              </a:r>
              <a:endParaRPr sz="14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Direct live connections with Sentinel-2 API and Google Earth Engine for on-demand regional analysis and cloud processing.</a:t>
              </a:r>
              <a:endParaRPr sz="1100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g3e449b8be43_0_273"/>
            <p:cNvSpPr txBox="1"/>
            <p:nvPr/>
          </p:nvSpPr>
          <p:spPr>
            <a:xfrm>
              <a:off x="6257925" y="300037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Regional Fine-Tuning</a:t>
              </a:r>
              <a:endParaRPr sz="14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Adapting the ResNet50 backbone to Egyptian landscapes and Nile Delta topographies for agricultural monitoring and urban planning.</a:t>
              </a:r>
              <a:endParaRPr sz="1100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449b8be43_0_3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g3e449b8be43_0_3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905000"/>
            <a:ext cx="3810000" cy="381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82" name="Google Shape;382;g3e449b8be43_0_322"/>
          <p:cNvSpPr txBox="1"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80" b="1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Real-World Impact: Transforming Geospatial Data into Action</a:t>
            </a:r>
            <a:endParaRPr sz="2480" b="1">
              <a:solidFill>
                <a:srgbClr val="1B4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449b8be43_0_322"/>
          <p:cNvSpPr/>
          <p:nvPr/>
        </p:nvSpPr>
        <p:spPr>
          <a:xfrm>
            <a:off x="457200" y="228600"/>
            <a:ext cx="8229600" cy="5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e449b8be43_0_322"/>
          <p:cNvSpPr/>
          <p:nvPr/>
        </p:nvSpPr>
        <p:spPr>
          <a:xfrm>
            <a:off x="457200" y="742950"/>
            <a:ext cx="8315400" cy="28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e449b8be43_0_322"/>
          <p:cNvSpPr/>
          <p:nvPr/>
        </p:nvSpPr>
        <p:spPr>
          <a:xfrm>
            <a:off x="361950" y="838200"/>
            <a:ext cx="8410500" cy="2667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e449b8be43_0_322"/>
          <p:cNvSpPr txBox="1"/>
          <p:nvPr/>
        </p:nvSpPr>
        <p:spPr>
          <a:xfrm>
            <a:off x="495300" y="838200"/>
            <a:ext cx="822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Deploying Advanced ML for National Development &amp; Sustainability</a:t>
            </a:r>
            <a:endParaRPr sz="12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g3e449b8be43_0_322"/>
          <p:cNvGrpSpPr/>
          <p:nvPr/>
        </p:nvGrpSpPr>
        <p:grpSpPr>
          <a:xfrm>
            <a:off x="457200" y="1333500"/>
            <a:ext cx="8210475" cy="3428850"/>
            <a:chOff x="457200" y="1333500"/>
            <a:chExt cx="8210475" cy="3428850"/>
          </a:xfrm>
        </p:grpSpPr>
        <p:sp>
          <p:nvSpPr>
            <p:cNvPr id="388" name="Google Shape;388;g3e449b8be43_0_322"/>
            <p:cNvSpPr/>
            <p:nvPr/>
          </p:nvSpPr>
          <p:spPr>
            <a:xfrm>
              <a:off x="457200" y="1333500"/>
              <a:ext cx="3952800" cy="161910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9" name="Google Shape;389;g3e449b8be43_0_3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7200" y="1333500"/>
              <a:ext cx="47700" cy="16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g3e449b8be43_0_322"/>
            <p:cNvSpPr txBox="1"/>
            <p:nvPr/>
          </p:nvSpPr>
          <p:spPr>
            <a:xfrm>
              <a:off x="1095375" y="1476375"/>
              <a:ext cx="3124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Combating Urban Sprawl</a:t>
              </a:r>
              <a:endParaRPr sz="1600" b="1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 b="0" dirty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Automatically detecting illegal construction and urban encroachment on valuable agricultural land in the Nile Delta.</a:t>
              </a:r>
              <a:endParaRPr sz="1150" b="0" dirty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g3e449b8be43_0_322"/>
            <p:cNvSpPr/>
            <p:nvPr/>
          </p:nvSpPr>
          <p:spPr>
            <a:xfrm>
              <a:off x="4714875" y="1333500"/>
              <a:ext cx="3952800" cy="161910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3" name="Google Shape;393;g3e449b8be43_0_3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14875" y="1333500"/>
              <a:ext cx="47700" cy="16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g3e449b8be43_0_322"/>
            <p:cNvSpPr txBox="1"/>
            <p:nvPr/>
          </p:nvSpPr>
          <p:spPr>
            <a:xfrm>
              <a:off x="5353050" y="1476375"/>
              <a:ext cx="3124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Precision Agriculture</a:t>
              </a:r>
              <a:endParaRPr sz="16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Utilizing 13-band Multispectral and False Color Composites to monitor crop health and predict harvest yields.</a:t>
              </a:r>
              <a:endParaRPr sz="1150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g3e449b8be43_0_322"/>
            <p:cNvSpPr/>
            <p:nvPr/>
          </p:nvSpPr>
          <p:spPr>
            <a:xfrm>
              <a:off x="457200" y="3143250"/>
              <a:ext cx="3952800" cy="161910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7" name="Google Shape;397;g3e449b8be43_0_3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7200" y="3143250"/>
              <a:ext cx="47700" cy="16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g3e449b8be43_0_322"/>
            <p:cNvSpPr txBox="1"/>
            <p:nvPr/>
          </p:nvSpPr>
          <p:spPr>
            <a:xfrm>
              <a:off x="1095375" y="3286125"/>
              <a:ext cx="3124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Water Resource Management</a:t>
              </a:r>
              <a:endParaRPr sz="1600" b="1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Continuously tracking water levels and pollution in the Nile River and northern coastal lakes.</a:t>
              </a:r>
              <a:endParaRPr sz="1150" b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g3e449b8be43_0_322"/>
            <p:cNvSpPr/>
            <p:nvPr/>
          </p:nvSpPr>
          <p:spPr>
            <a:xfrm>
              <a:off x="4714875" y="3143250"/>
              <a:ext cx="3952800" cy="1619100"/>
            </a:xfrm>
            <a:prstGeom prst="roundRect">
              <a:avLst>
                <a:gd name="adj" fmla="val 705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1" name="Google Shape;401;g3e449b8be43_0_3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714875" y="3143250"/>
              <a:ext cx="47700" cy="161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g3e449b8be43_0_322"/>
            <p:cNvSpPr txBox="1"/>
            <p:nvPr/>
          </p:nvSpPr>
          <p:spPr>
            <a:xfrm>
              <a:off x="5353050" y="3286125"/>
              <a:ext cx="3124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rgbClr val="2D6A4F"/>
                  </a:solidFill>
                  <a:latin typeface="Calibri"/>
                  <a:ea typeface="Calibri"/>
                  <a:cs typeface="Calibri"/>
                  <a:sym typeface="Calibri"/>
                </a:rPr>
                <a:t>Smart City Planning</a:t>
              </a:r>
              <a:endParaRPr sz="1600" b="1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 b="0" dirty="0">
                  <a:solidFill>
                    <a:srgbClr val="1B2D26"/>
                  </a:solidFill>
                  <a:latin typeface="Calibri"/>
                  <a:ea typeface="Calibri"/>
                  <a:cs typeface="Calibri"/>
                  <a:sym typeface="Calibri"/>
                </a:rPr>
                <a:t>Assisting government entities in mapping terrain for new urban developments and optimizing highway routing.</a:t>
              </a:r>
              <a:endParaRPr sz="1150" b="0" dirty="0">
                <a:solidFill>
                  <a:srgbClr val="1B2D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454B853-1469-9DB6-9C3F-19FF34354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611" y="1438176"/>
            <a:ext cx="357589" cy="321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8A2B43-8B4D-D9A1-0E98-641A2557B3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637" y="3286125"/>
            <a:ext cx="315563" cy="378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0DB611-D912-81BA-B997-8462BC90B8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443552"/>
            <a:ext cx="323891" cy="332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D5D3C7-322A-3FD9-BB8C-92BCD9924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50" y="3286125"/>
            <a:ext cx="285900" cy="2708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2A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/>
          <p:nvPr/>
        </p:nvSpPr>
        <p:spPr>
          <a:xfrm>
            <a:off x="2545854" y="1577318"/>
            <a:ext cx="4052292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2545854" y="2416708"/>
            <a:ext cx="4052292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250"/>
              <a:buFont typeface="Open Sans"/>
              <a:buNone/>
            </a:pPr>
            <a:r>
              <a:rPr lang="en-US" sz="1250" b="1">
                <a:solidFill>
                  <a:srgbClr val="548135"/>
                </a:solidFill>
                <a:latin typeface="Open Sans"/>
                <a:ea typeface="Open Sans"/>
                <a:cs typeface="Open Sans"/>
                <a:sym typeface="Open Sans"/>
              </a:rPr>
              <a:t>For your time and attention</a:t>
            </a:r>
            <a:endParaRPr sz="1250" b="1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2545854" y="2785441"/>
            <a:ext cx="405229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050"/>
              <a:buFont typeface="Calibri"/>
              <a:buNone/>
            </a:pPr>
            <a:r>
              <a:rPr lang="en-US" sz="1050" b="1" dirty="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PROJECT TEAM</a:t>
            </a:r>
            <a:endParaRPr sz="1050" b="1" dirty="0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9039335" y="0"/>
            <a:ext cx="109728" cy="51435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18" descr="A black cat in a green circle  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0726" y="3712402"/>
            <a:ext cx="306419" cy="30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8" descr="A green and grey link  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1253" y="3769431"/>
            <a:ext cx="192360" cy="1923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69FA4-B4CE-9226-7E7D-B53508BE957D}"/>
              </a:ext>
            </a:extLst>
          </p:cNvPr>
          <p:cNvSpPr txBox="1"/>
          <p:nvPr/>
        </p:nvSpPr>
        <p:spPr>
          <a:xfrm>
            <a:off x="5143613" y="3604001"/>
            <a:ext cx="3179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1200" dirty="0">
                <a:solidFill>
                  <a:schemeClr val="bg1"/>
                </a:solidFill>
              </a:rPr>
              <a:t>https://depidatascienceproject-zfm6ugw4g6h74ak3svcwfc.streamlit.app/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F51D0-770A-3584-0A59-CF7D76C2BDC3}"/>
              </a:ext>
            </a:extLst>
          </p:cNvPr>
          <p:cNvSpPr txBox="1"/>
          <p:nvPr/>
        </p:nvSpPr>
        <p:spPr>
          <a:xfrm>
            <a:off x="1976345" y="3726065"/>
            <a:ext cx="2768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1200" dirty="0">
                <a:solidFill>
                  <a:schemeClr val="bg1"/>
                </a:solidFill>
              </a:rPr>
              <a:t>https://github.com/nhahub/NHA-4-047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3720B-5ED1-B37F-40AA-0B1919391E8A}"/>
              </a:ext>
            </a:extLst>
          </p:cNvPr>
          <p:cNvSpPr txBox="1"/>
          <p:nvPr/>
        </p:nvSpPr>
        <p:spPr>
          <a:xfrm>
            <a:off x="2344254" y="2944930"/>
            <a:ext cx="1456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chemeClr val="bg1"/>
                </a:solidFill>
                <a:effectLst/>
                <a:latin typeface="Mona Sans VF"/>
              </a:rPr>
              <a:t>Nourhan Magdy</a:t>
            </a:r>
            <a:endParaRPr lang="ar-EG" sz="1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84E1F-9F77-EEC4-8CE2-92F36D8C0E1E}"/>
              </a:ext>
            </a:extLst>
          </p:cNvPr>
          <p:cNvSpPr txBox="1"/>
          <p:nvPr/>
        </p:nvSpPr>
        <p:spPr>
          <a:xfrm>
            <a:off x="3814911" y="2960687"/>
            <a:ext cx="1456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Mona Sans VF"/>
              </a:rPr>
              <a:t>Abdelrahman Ashraf</a:t>
            </a:r>
            <a:endParaRPr lang="ar-EG" sz="1000" dirty="0">
              <a:solidFill>
                <a:schemeClr val="bg1"/>
              </a:solidFill>
              <a:latin typeface="Mona Sans VF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6DF41-7BAF-53AF-DD5B-85A789046B35}"/>
              </a:ext>
            </a:extLst>
          </p:cNvPr>
          <p:cNvSpPr txBox="1"/>
          <p:nvPr/>
        </p:nvSpPr>
        <p:spPr>
          <a:xfrm>
            <a:off x="5303843" y="2960686"/>
            <a:ext cx="1139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chemeClr val="bg1"/>
                </a:solidFill>
                <a:effectLst/>
                <a:latin typeface="Mona Sans VF"/>
              </a:rPr>
              <a:t> Eslam Abdin</a:t>
            </a:r>
            <a:endParaRPr lang="ar-EG" sz="1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EB82A-3FAD-EBB6-458B-8F3AE5082A20}"/>
              </a:ext>
            </a:extLst>
          </p:cNvPr>
          <p:cNvSpPr txBox="1"/>
          <p:nvPr/>
        </p:nvSpPr>
        <p:spPr>
          <a:xfrm>
            <a:off x="2635854" y="3220265"/>
            <a:ext cx="873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chemeClr val="bg1"/>
                </a:solidFill>
                <a:effectLst/>
                <a:latin typeface="Mona Sans VF"/>
              </a:rPr>
              <a:t>Heba Adel</a:t>
            </a:r>
            <a:endParaRPr lang="ar-EG" sz="1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469AA8-6AAF-3E6E-D77C-4D91D16964F9}"/>
              </a:ext>
            </a:extLst>
          </p:cNvPr>
          <p:cNvSpPr txBox="1"/>
          <p:nvPr/>
        </p:nvSpPr>
        <p:spPr>
          <a:xfrm>
            <a:off x="3879900" y="3199629"/>
            <a:ext cx="1341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chemeClr val="bg1"/>
                </a:solidFill>
                <a:effectLst/>
                <a:latin typeface="Mona Sans VF"/>
              </a:rPr>
              <a:t>Ahmed Abdelkhalek</a:t>
            </a:r>
            <a:endParaRPr lang="ar-EG" sz="10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891D2-2E31-E489-4BE0-9EC86B18ECE6}"/>
              </a:ext>
            </a:extLst>
          </p:cNvPr>
          <p:cNvSpPr txBox="1"/>
          <p:nvPr/>
        </p:nvSpPr>
        <p:spPr>
          <a:xfrm>
            <a:off x="5368643" y="3203044"/>
            <a:ext cx="107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i="0" dirty="0">
                <a:solidFill>
                  <a:schemeClr val="bg1"/>
                </a:solidFill>
                <a:effectLst/>
                <a:latin typeface="Mona Sans VF"/>
              </a:rPr>
              <a:t>Neamat Gamal</a:t>
            </a:r>
            <a:endParaRPr lang="ar-EG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1418</Words>
  <Application>Microsoft Office PowerPoint</Application>
  <PresentationFormat>On-screen Show (16:9)</PresentationFormat>
  <Paragraphs>310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Open Sans</vt:lpstr>
      <vt:lpstr>Courier New</vt:lpstr>
      <vt:lpstr>Arial</vt:lpstr>
      <vt:lpstr>Mona Sans VF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Nourahan Magdy Mohamed El-Gazouly Mekky</cp:lastModifiedBy>
  <cp:revision>30</cp:revision>
  <dcterms:created xsi:type="dcterms:W3CDTF">2026-05-12T13:24:29Z</dcterms:created>
  <dcterms:modified xsi:type="dcterms:W3CDTF">2026-05-24T10:44:06Z</dcterms:modified>
</cp:coreProperties>
</file>